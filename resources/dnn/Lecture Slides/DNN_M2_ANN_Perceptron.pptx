
<file path=[Content_Types].xml><?xml version="1.0" encoding="utf-8"?>
<Types xmlns="http://schemas.openxmlformats.org/package/2006/content-types">
  <Default Extension="odttf" ContentType="application/vnd.openxmlformats-officedocument.obfuscatedFont"/>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0FC60E1-CCDB-4A60-AB2C-E36D62583BF8}">
  <a:tblStyle styleId="{50FC60E1-CCDB-4A60-AB2C-E36D62583BF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39" Type="http://schemas.openxmlformats.org/officeDocument/2006/relationships/slide" Target="slides/slide33.xml"/><Relationship Id="rId26" Type="http://schemas.openxmlformats.org/officeDocument/2006/relationships/slide" Target="slides/slide20.xml"/><Relationship Id="rId13" Type="http://schemas.openxmlformats.org/officeDocument/2006/relationships/slide" Target="slides/slide7.xml"/><Relationship Id="rId18" Type="http://schemas.openxmlformats.org/officeDocument/2006/relationships/slide" Target="slides/slide12.xml"/><Relationship Id="rId42" Type="http://schemas.openxmlformats.org/officeDocument/2006/relationships/slide" Target="slides/slide36.xml"/><Relationship Id="rId47" Type="http://schemas.openxmlformats.org/officeDocument/2006/relationships/slide" Target="slides/slide41.xml"/><Relationship Id="rId34" Type="http://schemas.openxmlformats.org/officeDocument/2006/relationships/slide" Target="slides/slide28.xml"/><Relationship Id="rId21" Type="http://schemas.openxmlformats.org/officeDocument/2006/relationships/slide" Target="slides/slide15.xml"/><Relationship Id="rId50" Type="http://schemas.openxmlformats.org/officeDocument/2006/relationships/slide" Target="slides/slide44.xml"/><Relationship Id="rId55" Type="http://schemas.openxmlformats.org/officeDocument/2006/relationships/customXml" Target="../customXml/item3.xml"/><Relationship Id="rId7" Type="http://schemas.openxmlformats.org/officeDocument/2006/relationships/slide" Target="slides/slide1.xml"/><Relationship Id="rId2" Type="http://schemas.openxmlformats.org/officeDocument/2006/relationships/viewProps" Target="viewProps.xml"/><Relationship Id="rId29" Type="http://schemas.openxmlformats.org/officeDocument/2006/relationships/slide" Target="slides/slide23.xml"/><Relationship Id="rId16" Type="http://schemas.openxmlformats.org/officeDocument/2006/relationships/slide" Target="slides/slide10.xml"/><Relationship Id="rId40" Type="http://schemas.openxmlformats.org/officeDocument/2006/relationships/slide" Target="slides/slide34.xml"/><Relationship Id="rId45" Type="http://schemas.openxmlformats.org/officeDocument/2006/relationships/slide" Target="slides/slide39.xml"/><Relationship Id="rId32" Type="http://schemas.openxmlformats.org/officeDocument/2006/relationships/slide" Target="slides/slide26.xml"/><Relationship Id="rId37" Type="http://schemas.openxmlformats.org/officeDocument/2006/relationships/slide" Target="slides/slide31.xml"/><Relationship Id="rId24" Type="http://schemas.openxmlformats.org/officeDocument/2006/relationships/slide" Target="slides/slide18.xml"/><Relationship Id="rId11" Type="http://schemas.openxmlformats.org/officeDocument/2006/relationships/slide" Target="slides/slide5.xml"/><Relationship Id="rId53" Type="http://schemas.openxmlformats.org/officeDocument/2006/relationships/customXml" Target="../customXml/item1.xml"/><Relationship Id="rId5" Type="http://schemas.openxmlformats.org/officeDocument/2006/relationships/slideMaster" Target="slideMasters/slideMaster1.xml"/><Relationship Id="rId44" Type="http://schemas.openxmlformats.org/officeDocument/2006/relationships/slide" Target="slides/slide38.xml"/><Relationship Id="rId31" Type="http://schemas.openxmlformats.org/officeDocument/2006/relationships/slide" Target="slides/slide25.xml"/><Relationship Id="rId52" Type="http://schemas.openxmlformats.org/officeDocument/2006/relationships/slide" Target="slides/slide46.xml"/><Relationship Id="rId10" Type="http://schemas.openxmlformats.org/officeDocument/2006/relationships/slide" Target="slides/slide4.xml"/><Relationship Id="rId19" Type="http://schemas.openxmlformats.org/officeDocument/2006/relationships/slide" Target="slides/slide13.xml"/><Relationship Id="rId43" Type="http://schemas.openxmlformats.org/officeDocument/2006/relationships/slide" Target="slides/slide37.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30" Type="http://schemas.openxmlformats.org/officeDocument/2006/relationships/slide" Target="slides/slide24.xml"/><Relationship Id="rId35" Type="http://schemas.openxmlformats.org/officeDocument/2006/relationships/slide" Target="slides/slide29.xml"/><Relationship Id="rId22" Type="http://schemas.openxmlformats.org/officeDocument/2006/relationships/slide" Target="slides/slide16.xml"/><Relationship Id="rId27" Type="http://schemas.openxmlformats.org/officeDocument/2006/relationships/slide" Target="slides/slide21.xml"/><Relationship Id="rId14" Type="http://schemas.openxmlformats.org/officeDocument/2006/relationships/slide" Target="slides/slide8.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presProps" Target="presProps.xml"/><Relationship Id="rId46" Type="http://schemas.openxmlformats.org/officeDocument/2006/relationships/slide" Target="slides/slide40.xml"/><Relationship Id="rId33" Type="http://schemas.openxmlformats.org/officeDocument/2006/relationships/slide" Target="slides/slide27.xml"/><Relationship Id="rId38" Type="http://schemas.openxmlformats.org/officeDocument/2006/relationships/slide" Target="slides/slide32.xml"/><Relationship Id="rId25" Type="http://schemas.openxmlformats.org/officeDocument/2006/relationships/slide" Target="slides/slide19.xml"/><Relationship Id="rId12" Type="http://schemas.openxmlformats.org/officeDocument/2006/relationships/slide" Target="slides/slide6.xml"/><Relationship Id="rId17" Type="http://schemas.openxmlformats.org/officeDocument/2006/relationships/slide" Target="slides/slide11.xml"/><Relationship Id="rId41" Type="http://schemas.openxmlformats.org/officeDocument/2006/relationships/slide" Target="slides/slide35.xml"/><Relationship Id="rId20" Type="http://schemas.openxmlformats.org/officeDocument/2006/relationships/slide" Target="slides/slide14.xml"/><Relationship Id="rId54" Type="http://schemas.openxmlformats.org/officeDocument/2006/relationships/customXml" Target="../customXml/item2.xml"/><Relationship Id="rId1" Type="http://schemas.openxmlformats.org/officeDocument/2006/relationships/theme" Target="theme/theme2.xml"/><Relationship Id="rId6" Type="http://schemas.openxmlformats.org/officeDocument/2006/relationships/notesMaster" Target="notesMasters/notesMaster1.xml"/><Relationship Id="rId49" Type="http://schemas.openxmlformats.org/officeDocument/2006/relationships/slide" Target="slides/slide43.xml"/><Relationship Id="rId36" Type="http://schemas.openxmlformats.org/officeDocument/2006/relationships/slide" Target="slides/slide30.xml"/><Relationship Id="rId23" Type="http://schemas.openxmlformats.org/officeDocument/2006/relationships/slide" Target="slides/slide17.xml"/><Relationship Id="rId28" Type="http://schemas.openxmlformats.org/officeDocument/2006/relationships/slide" Target="slides/slide22.xml"/><Relationship Id="rId1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44d658b016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44d658b016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9986dc008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9986dc008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9986dc008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9986dc008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Human brain has the capability to learn, solve problems, recognize patterns, create, think deeply about something, meditate and many many more. We humans learn by observation. This is called as learning through association, in literature.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9986dc0089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9986dc0089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inside the brain? Neurons or neural units. Each unit is excited or fired or triggered based on the input it receives. When see an elephant or when we hear a sound, or smell maggi noodles, some of the neurons are excited and they get fired. Note that only those neurons that respond to smell of maggi noodles get fired. Others are inactive. These neurons that respond to smell, will get fired, and each neuron will produce or generate an apt response that can trigger some actions for the other parts of body like responding with words yummy!!!!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9986dc0089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9986dc0089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neurons in brain are interconnected to a lot of other neurons. The interconnections between the biological neurons are many and varied. Each neuron may receive stimulus from many other neurons. Each neurons will send responses to many other neurons. Even loops between neurons and self loops can be seen among these neurons.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9986dc0089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9986dc0089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8ca2b74484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8ca2b74484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9986dc0089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9986dc008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artificial neural unit found in the connectionist machine started of as a perceptron. Each neuron will do the computation, which we call as weighted sum. This may be given out as output directly, or we made apply additional processing on the weighted sum before sending the response. The interconnection among the neural unit will store the knowledge of the world. We call the mechanism for storing the knowledge as parameters or weights.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ca2b74484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ca2b74484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artificial neural unit found in the connectionist machine started of as a perceptron. Each neuron will do the computation, which we call as weighted sum. This may be given out as output directly, or we made apply additional processing on the weighted sum before sending the response. The interconnection among the neural unit will store the knowledge of the world. We call the mechanism for storing the knowledge as parameters or weights.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8ca2b74484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8ca2b74484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artificial neural unit found in the connectionist machine started of as a perceptron. Each neuron will do the computation, which we call as weighted sum. This may be given out as output directly, or we made apply additional processing on the weighted sum before sending the response. The interconnection among the neural unit will store the knowledge of the world. We call the mechanism for storing the knowledge as parameters or weights.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8ca2b7448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8ca2b7448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8ca2b74484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8ca2b74484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ca2b74484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8ca2b74484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9986dc008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9986dc0089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9986dc0089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9986dc0089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9986dc0089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9986dc008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machines that emulate the brain to some extent are called connectionist machines. It is a concept in Artificial intelligence, where each indictila processing element called as neural unit will so some computation. Each unit will receive input from many other units. And each unit will send responses to other neural units. The ideal connectionist machines will have loops and self loops and ll kinds of interconnections imaginable.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8ca2b74484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8ca2b74484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machines that emulate the brain to some extent are called connectionist machines. It is a concept in Artificial intelligence, where each indictila processing element called as neural unit will so some computation. Each unit will receive input from many other units. And each unit will send responses to other neural units. The ideal connectionist machines will have loops and self loops and ll kinds of interconnections imaginable.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9986dc0089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9986dc0089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9986dc0089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9986dc0089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Highlight that perceptron will have outputs as +1 and -1 always.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8ca2b74484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8ca2b74484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Highlight that perceptron will have outputs as +1 and -1 always.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8ca2b74484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8ca2b74484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61b0c4569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61b0c4569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9986dc0089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9986dc0089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9986dc0089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9986dc0089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 equations and 3 unknown. Easily solved using linear algebra.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9986dc0089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9986dc0089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8ca2b74484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8ca2b74484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8ca2b74484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8ca2b74484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8ca2b74484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8ca2b74484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9986dc0089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9986dc0089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Give this as exercise for the students.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9986dc0089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9986dc0089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9986dc0089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9986dc0089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Definition of learning rate is in next slide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8ca2b74484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8ca2b74484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Definition of learning rate is in next slide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8ca2b74484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8ca2b74484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Definition of learning rate is in next slide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8ca2b74484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8ca2b74484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Definition of learning rate is in next slide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8ca2b74484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8ca2b74484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Definition of learning rate is in next slide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8ca2b74484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8ca2b74484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Definition of learning rate is in next slide</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8ca2b74484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8ca2b74484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8ca2b744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8ca2b744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8ca2b7448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8ca2b7448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aim to find the optimal decision boundary that can separate the classes.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8ca2b74484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8ca2b74484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aim to find the optimal decision boundary that can separate the classes.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8ca2b7448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8ca2b7448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perceptron can take any number of inputs. Each input connection will have a weight associated with it. The aim is to find the values of these parameters that can draw a decision boundary that will separate the classes. The computation remind the same ie take the sign of the weighted sum and compute output response for each example.</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8ca2b74484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8ca2b74484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perceptron can take any number of inputs. Each input connection will have a weight associated with it. The aim is to find the values of these parameters that can draw a decision boundary that will separate the classes. The computation remind the same ie take the sign of the weighted sum and compute output response for each example.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9986dc0089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9986dc0089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Give this as exercise for the students.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8ca2b74484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8ca2b74484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Give this as exercise for the students.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9986dc0089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29986dc0089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4245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018475"/>
            <a:ext cx="8520600" cy="3895800"/>
          </a:xfrm>
          <a:prstGeom prst="rect">
            <a:avLst/>
          </a:prstGeom>
        </p:spPr>
        <p:txBody>
          <a:bodyPr anchorCtr="0" anchor="t" bIns="91425" lIns="91425" spcFirstLastPara="1" rIns="91425" wrap="square" tIns="91425">
            <a:normAutofit/>
          </a:bodyPr>
          <a:lstStyle>
            <a:lvl1pPr indent="-355600" lvl="0" marL="457200">
              <a:spcBef>
                <a:spcPts val="0"/>
              </a:spcBef>
              <a:spcAft>
                <a:spcPts val="0"/>
              </a:spcAft>
              <a:buClr>
                <a:schemeClr val="dk1"/>
              </a:buClr>
              <a:buSzPts val="2000"/>
              <a:buChar char="●"/>
              <a:defRPr sz="2000">
                <a:solidFill>
                  <a:schemeClr val="dk1"/>
                </a:solidFill>
              </a:defRPr>
            </a:lvl1pPr>
            <a:lvl2pPr indent="-330200" lvl="1" marL="914400">
              <a:spcBef>
                <a:spcPts val="0"/>
              </a:spcBef>
              <a:spcAft>
                <a:spcPts val="0"/>
              </a:spcAft>
              <a:buClr>
                <a:schemeClr val="dk1"/>
              </a:buClr>
              <a:buSzPts val="1600"/>
              <a:buChar char="○"/>
              <a:defRPr sz="1600">
                <a:solidFill>
                  <a:schemeClr val="dk1"/>
                </a:solidFill>
              </a:defRPr>
            </a:lvl2pPr>
            <a:lvl3pPr indent="-330200" lvl="2" marL="1371600">
              <a:spcBef>
                <a:spcPts val="0"/>
              </a:spcBef>
              <a:spcAft>
                <a:spcPts val="0"/>
              </a:spcAft>
              <a:buClr>
                <a:schemeClr val="dk1"/>
              </a:buClr>
              <a:buSzPts val="1600"/>
              <a:buChar char="■"/>
              <a:defRPr sz="1600">
                <a:solidFill>
                  <a:schemeClr val="dk1"/>
                </a:solidFill>
              </a:defRPr>
            </a:lvl3pPr>
            <a:lvl4pPr indent="-330200" lvl="3" marL="1828800">
              <a:spcBef>
                <a:spcPts val="0"/>
              </a:spcBef>
              <a:spcAft>
                <a:spcPts val="0"/>
              </a:spcAft>
              <a:buClr>
                <a:schemeClr val="dk1"/>
              </a:buClr>
              <a:buSzPts val="1600"/>
              <a:buChar char="●"/>
              <a:defRPr sz="1600">
                <a:solidFill>
                  <a:schemeClr val="dk1"/>
                </a:solidFill>
              </a:defRPr>
            </a:lvl4pPr>
            <a:lvl5pPr indent="-330200" lvl="4" marL="2286000">
              <a:spcBef>
                <a:spcPts val="0"/>
              </a:spcBef>
              <a:spcAft>
                <a:spcPts val="0"/>
              </a:spcAft>
              <a:buClr>
                <a:schemeClr val="dk1"/>
              </a:buClr>
              <a:buSzPts val="1600"/>
              <a:buChar char="○"/>
              <a:defRPr sz="1600">
                <a:solidFill>
                  <a:schemeClr val="dk1"/>
                </a:solidFill>
              </a:defRPr>
            </a:lvl5pPr>
            <a:lvl6pPr indent="-330200" lvl="5" marL="2743200">
              <a:spcBef>
                <a:spcPts val="0"/>
              </a:spcBef>
              <a:spcAft>
                <a:spcPts val="0"/>
              </a:spcAft>
              <a:buClr>
                <a:schemeClr val="dk1"/>
              </a:buClr>
              <a:buSzPts val="1600"/>
              <a:buChar char="■"/>
              <a:defRPr sz="1600">
                <a:solidFill>
                  <a:schemeClr val="dk1"/>
                </a:solidFill>
              </a:defRPr>
            </a:lvl6pPr>
            <a:lvl7pPr indent="-330200" lvl="6" marL="3200400">
              <a:spcBef>
                <a:spcPts val="0"/>
              </a:spcBef>
              <a:spcAft>
                <a:spcPts val="0"/>
              </a:spcAft>
              <a:buClr>
                <a:schemeClr val="dk1"/>
              </a:buClr>
              <a:buSzPts val="1600"/>
              <a:buChar char="●"/>
              <a:defRPr sz="1600">
                <a:solidFill>
                  <a:schemeClr val="dk1"/>
                </a:solidFill>
              </a:defRPr>
            </a:lvl7pPr>
            <a:lvl8pPr indent="-330200" lvl="7" marL="3657600">
              <a:spcBef>
                <a:spcPts val="0"/>
              </a:spcBef>
              <a:spcAft>
                <a:spcPts val="0"/>
              </a:spcAft>
              <a:buClr>
                <a:schemeClr val="dk1"/>
              </a:buClr>
              <a:buSzPts val="1600"/>
              <a:buChar char="○"/>
              <a:defRPr sz="1600">
                <a:solidFill>
                  <a:schemeClr val="dk1"/>
                </a:solidFill>
              </a:defRPr>
            </a:lvl8pPr>
            <a:lvl9pPr indent="-330200" lvl="8" marL="4114800">
              <a:spcBef>
                <a:spcPts val="0"/>
              </a:spcBef>
              <a:spcAft>
                <a:spcPts val="0"/>
              </a:spcAft>
              <a:buClr>
                <a:schemeClr val="dk1"/>
              </a:buClr>
              <a:buSzPts val="1600"/>
              <a:buChar char="■"/>
              <a:defRPr sz="1600">
                <a:solidFill>
                  <a:schemeClr val="dk1"/>
                </a:solidFill>
              </a:defRPr>
            </a:lvl9pPr>
          </a:lstStyle>
          <a:p/>
        </p:txBody>
      </p:sp>
      <p:sp>
        <p:nvSpPr>
          <p:cNvPr id="19" name="Google Shape;19;p4"/>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6"/>
          <p:cNvSpPr txBox="1"/>
          <p:nvPr>
            <p:ph type="title"/>
          </p:nvPr>
        </p:nvSpPr>
        <p:spPr>
          <a:xfrm>
            <a:off x="311700" y="14245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7"/>
          <p:cNvSpPr txBox="1"/>
          <p:nvPr>
            <p:ph type="title"/>
          </p:nvPr>
        </p:nvSpPr>
        <p:spPr>
          <a:xfrm>
            <a:off x="311700" y="142450"/>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 name="Google Shape;31;p7"/>
          <p:cNvSpPr txBox="1"/>
          <p:nvPr>
            <p:ph idx="1" type="body"/>
          </p:nvPr>
        </p:nvSpPr>
        <p:spPr>
          <a:xfrm>
            <a:off x="311700" y="1018475"/>
            <a:ext cx="5411400" cy="3895800"/>
          </a:xfrm>
          <a:prstGeom prst="rect">
            <a:avLst/>
          </a:prstGeom>
        </p:spPr>
        <p:txBody>
          <a:bodyPr anchorCtr="0" anchor="t" bIns="91425" lIns="91425" spcFirstLastPara="1" rIns="91425" wrap="square" tIns="91425">
            <a:normAutofit/>
          </a:bodyPr>
          <a:lstStyle>
            <a:lvl1pPr indent="-355600" lvl="0" marL="457200">
              <a:spcBef>
                <a:spcPts val="0"/>
              </a:spcBef>
              <a:spcAft>
                <a:spcPts val="0"/>
              </a:spcAft>
              <a:buClr>
                <a:schemeClr val="dk1"/>
              </a:buClr>
              <a:buSzPts val="2000"/>
              <a:buChar char="➔"/>
              <a:defRPr sz="2000">
                <a:solidFill>
                  <a:schemeClr val="dk1"/>
                </a:solidFill>
              </a:defRPr>
            </a:lvl1pPr>
            <a:lvl2pPr indent="-330200" lvl="1" marL="914400">
              <a:spcBef>
                <a:spcPts val="0"/>
              </a:spcBef>
              <a:spcAft>
                <a:spcPts val="0"/>
              </a:spcAft>
              <a:buClr>
                <a:schemeClr val="dk1"/>
              </a:buClr>
              <a:buSzPts val="1600"/>
              <a:buChar char="◆"/>
              <a:defRPr sz="1600">
                <a:solidFill>
                  <a:schemeClr val="dk1"/>
                </a:solidFill>
              </a:defRPr>
            </a:lvl2pPr>
            <a:lvl3pPr indent="-330200" lvl="2" marL="1371600">
              <a:spcBef>
                <a:spcPts val="0"/>
              </a:spcBef>
              <a:spcAft>
                <a:spcPts val="0"/>
              </a:spcAft>
              <a:buClr>
                <a:schemeClr val="dk1"/>
              </a:buClr>
              <a:buSzPts val="1600"/>
              <a:buChar char="●"/>
              <a:defRPr sz="1600">
                <a:solidFill>
                  <a:schemeClr val="dk1"/>
                </a:solidFill>
              </a:defRPr>
            </a:lvl3pPr>
            <a:lvl4pPr indent="-330200" lvl="3" marL="1828800">
              <a:spcBef>
                <a:spcPts val="0"/>
              </a:spcBef>
              <a:spcAft>
                <a:spcPts val="0"/>
              </a:spcAft>
              <a:buClr>
                <a:schemeClr val="dk1"/>
              </a:buClr>
              <a:buSzPts val="1600"/>
              <a:buChar char="○"/>
              <a:defRPr sz="1600">
                <a:solidFill>
                  <a:schemeClr val="dk1"/>
                </a:solidFill>
              </a:defRPr>
            </a:lvl4pPr>
            <a:lvl5pPr indent="-330200" lvl="4" marL="2286000">
              <a:spcBef>
                <a:spcPts val="0"/>
              </a:spcBef>
              <a:spcAft>
                <a:spcPts val="0"/>
              </a:spcAft>
              <a:buClr>
                <a:schemeClr val="dk1"/>
              </a:buClr>
              <a:buSzPts val="1600"/>
              <a:buChar char="◆"/>
              <a:defRPr sz="1600">
                <a:solidFill>
                  <a:schemeClr val="dk1"/>
                </a:solidFill>
              </a:defRPr>
            </a:lvl5pPr>
            <a:lvl6pPr indent="-330200" lvl="5" marL="2743200">
              <a:spcBef>
                <a:spcPts val="0"/>
              </a:spcBef>
              <a:spcAft>
                <a:spcPts val="0"/>
              </a:spcAft>
              <a:buClr>
                <a:schemeClr val="dk1"/>
              </a:buClr>
              <a:buSzPts val="1600"/>
              <a:buChar char="●"/>
              <a:defRPr sz="1600">
                <a:solidFill>
                  <a:schemeClr val="dk1"/>
                </a:solidFill>
              </a:defRPr>
            </a:lvl6pPr>
            <a:lvl7pPr indent="-330200" lvl="6" marL="3200400">
              <a:spcBef>
                <a:spcPts val="0"/>
              </a:spcBef>
              <a:spcAft>
                <a:spcPts val="0"/>
              </a:spcAft>
              <a:buClr>
                <a:schemeClr val="dk1"/>
              </a:buClr>
              <a:buSzPts val="1600"/>
              <a:buChar char="○"/>
              <a:defRPr sz="1600">
                <a:solidFill>
                  <a:schemeClr val="dk1"/>
                </a:solidFill>
              </a:defRPr>
            </a:lvl7pPr>
            <a:lvl8pPr indent="-330200" lvl="7" marL="3657600">
              <a:spcBef>
                <a:spcPts val="0"/>
              </a:spcBef>
              <a:spcAft>
                <a:spcPts val="0"/>
              </a:spcAft>
              <a:buClr>
                <a:schemeClr val="dk1"/>
              </a:buClr>
              <a:buSzPts val="1600"/>
              <a:buChar char="◆"/>
              <a:defRPr sz="1600">
                <a:solidFill>
                  <a:schemeClr val="dk1"/>
                </a:solidFill>
              </a:defRPr>
            </a:lvl8pPr>
            <a:lvl9pPr indent="-330200" lvl="8" marL="4114800">
              <a:spcBef>
                <a:spcPts val="0"/>
              </a:spcBef>
              <a:spcAft>
                <a:spcPts val="0"/>
              </a:spcAft>
              <a:buClr>
                <a:schemeClr val="dk1"/>
              </a:buClr>
              <a:buSzPts val="1600"/>
              <a:buChar char="●"/>
              <a:defRPr sz="1600">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type="title"/>
          </p:nvPr>
        </p:nvSpPr>
        <p:spPr>
          <a:xfrm>
            <a:off x="311700" y="14245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colab.research.google.com/drive/1DUVcOoUIWhl8GQKc6AWR1wi0LaMeNkgD?usp=sharing"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2684575" y="2504025"/>
            <a:ext cx="6020700" cy="79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Deep Neural Network</a:t>
            </a:r>
            <a:endParaRPr>
              <a:solidFill>
                <a:schemeClr val="lt1"/>
              </a:solidFill>
            </a:endParaRPr>
          </a:p>
        </p:txBody>
      </p:sp>
      <p:sp>
        <p:nvSpPr>
          <p:cNvPr id="56" name="Google Shape;56;p13"/>
          <p:cNvSpPr txBox="1"/>
          <p:nvPr>
            <p:ph idx="1" type="subTitle"/>
          </p:nvPr>
        </p:nvSpPr>
        <p:spPr>
          <a:xfrm>
            <a:off x="2884075" y="3296625"/>
            <a:ext cx="6020700" cy="512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
                <a:solidFill>
                  <a:schemeClr val="lt1"/>
                </a:solidFill>
              </a:rPr>
              <a:t>AIML</a:t>
            </a:r>
            <a:r>
              <a:rPr lang="en">
                <a:solidFill>
                  <a:schemeClr val="lt1"/>
                </a:solidFill>
              </a:rPr>
              <a:t> Module 2</a:t>
            </a:r>
            <a:endParaRPr>
              <a:solidFill>
                <a:schemeClr val="lt1"/>
              </a:solidFill>
            </a:endParaRPr>
          </a:p>
        </p:txBody>
      </p:sp>
      <p:sp>
        <p:nvSpPr>
          <p:cNvPr id="57" name="Google Shape;57;p13"/>
          <p:cNvSpPr txBox="1"/>
          <p:nvPr/>
        </p:nvSpPr>
        <p:spPr>
          <a:xfrm>
            <a:off x="5316175" y="3737325"/>
            <a:ext cx="3389100" cy="800400"/>
          </a:xfrm>
          <a:prstGeom prst="rect">
            <a:avLst/>
          </a:prstGeom>
          <a:noFill/>
          <a:ln>
            <a:noFill/>
          </a:ln>
        </p:spPr>
        <p:txBody>
          <a:bodyPr anchorCtr="0" anchor="t" bIns="91425" lIns="91425" spcFirstLastPara="1" rIns="91425" wrap="square" tIns="91425">
            <a:spAutoFit/>
          </a:bodyPr>
          <a:lstStyle/>
          <a:p>
            <a:pPr indent="0" lvl="0" marL="0" rtl="0" algn="r">
              <a:lnSpc>
                <a:spcPct val="150000"/>
              </a:lnSpc>
              <a:spcBef>
                <a:spcPts val="0"/>
              </a:spcBef>
              <a:spcAft>
                <a:spcPts val="0"/>
              </a:spcAft>
              <a:buNone/>
            </a:pPr>
            <a:r>
              <a:rPr lang="en" sz="1600">
                <a:solidFill>
                  <a:schemeClr val="lt1"/>
                </a:solidFill>
              </a:rPr>
              <a:t>Seetha Parameswaran</a:t>
            </a:r>
            <a:endParaRPr sz="1600">
              <a:solidFill>
                <a:schemeClr val="lt1"/>
              </a:solidFill>
            </a:endParaRPr>
          </a:p>
          <a:p>
            <a:pPr indent="0" lvl="0" marL="0" rtl="0" algn="r">
              <a:lnSpc>
                <a:spcPct val="150000"/>
              </a:lnSpc>
              <a:spcBef>
                <a:spcPts val="0"/>
              </a:spcBef>
              <a:spcAft>
                <a:spcPts val="0"/>
              </a:spcAft>
              <a:buNone/>
            </a:pPr>
            <a:r>
              <a:rPr lang="en" sz="1600">
                <a:solidFill>
                  <a:schemeClr val="lt1"/>
                </a:solidFill>
              </a:rPr>
              <a:t>BITS Pilani</a:t>
            </a:r>
            <a:endParaRPr sz="16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1714500" y="1448675"/>
            <a:ext cx="5688300" cy="1541700"/>
          </a:xfrm>
          <a:prstGeom prst="rect">
            <a:avLst/>
          </a:prstGeom>
        </p:spPr>
        <p:txBody>
          <a:bodyPr anchorCtr="0" anchor="ctr" bIns="91425" lIns="91425" spcFirstLastPara="1" rIns="91425" wrap="square" tIns="91425">
            <a:normAutofit/>
          </a:bodyPr>
          <a:lstStyle/>
          <a:p>
            <a:pPr indent="0" lvl="0" marL="0" rtl="0" algn="just">
              <a:lnSpc>
                <a:spcPct val="115000"/>
              </a:lnSpc>
              <a:spcBef>
                <a:spcPts val="0"/>
              </a:spcBef>
              <a:spcAft>
                <a:spcPts val="1200"/>
              </a:spcAft>
              <a:buNone/>
            </a:pPr>
            <a:r>
              <a:rPr lang="en" sz="1800">
                <a:solidFill>
                  <a:schemeClr val="dk2"/>
                </a:solidFill>
              </a:rPr>
              <a:t>The author of this deck, Prof. Seetha Parameswaran, is gratefully acknowledging the authors who made their course materials freely available online.</a:t>
            </a:r>
            <a:endParaRPr sz="1800">
              <a:solidFill>
                <a:schemeClr val="dk2"/>
              </a:solidFill>
            </a:endParaRPr>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Human Brain</a:t>
            </a:r>
            <a:endParaRPr/>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 Humans Learn?</a:t>
            </a:r>
            <a:endParaRPr/>
          </a:p>
        </p:txBody>
      </p:sp>
      <p:sp>
        <p:nvSpPr>
          <p:cNvPr id="75" name="Google Shape;75;p16"/>
          <p:cNvSpPr txBox="1"/>
          <p:nvPr>
            <p:ph idx="1" type="body"/>
          </p:nvPr>
        </p:nvSpPr>
        <p:spPr>
          <a:xfrm>
            <a:off x="311700" y="1018475"/>
            <a:ext cx="45081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It begins with human brain.</a:t>
            </a:r>
            <a:endParaRPr/>
          </a:p>
          <a:p>
            <a:pPr indent="-355600" lvl="0" marL="457200" rtl="0" algn="l">
              <a:spcBef>
                <a:spcPts val="0"/>
              </a:spcBef>
              <a:spcAft>
                <a:spcPts val="0"/>
              </a:spcAft>
              <a:buSzPts val="2000"/>
              <a:buChar char="➔"/>
            </a:pPr>
            <a:r>
              <a:rPr lang="en"/>
              <a:t>Humans learn, solve problems, recognize patterns, create, think deeply about something, meditate and many many more.....</a:t>
            </a:r>
            <a:endParaRPr/>
          </a:p>
          <a:p>
            <a:pPr indent="-355600" lvl="0" marL="457200" rtl="0" algn="l">
              <a:spcBef>
                <a:spcPts val="0"/>
              </a:spcBef>
              <a:spcAft>
                <a:spcPts val="0"/>
              </a:spcAft>
              <a:buSzPts val="2000"/>
              <a:buChar char="➔"/>
            </a:pPr>
            <a:r>
              <a:rPr lang="en"/>
              <a:t>Humans learn through </a:t>
            </a:r>
            <a:r>
              <a:rPr b="1" lang="en"/>
              <a:t>association</a:t>
            </a:r>
            <a:r>
              <a:rPr lang="en"/>
              <a:t>. [Refer to Associationism for more details.]</a:t>
            </a:r>
            <a:endParaRPr/>
          </a:p>
        </p:txBody>
      </p:sp>
      <p:pic>
        <p:nvPicPr>
          <p:cNvPr id="76" name="Google Shape;76;p16"/>
          <p:cNvPicPr preferRelativeResize="0"/>
          <p:nvPr/>
        </p:nvPicPr>
        <p:blipFill>
          <a:blip r:embed="rId3">
            <a:alphaModFix/>
          </a:blip>
          <a:stretch>
            <a:fillRect/>
          </a:stretch>
        </p:blipFill>
        <p:spPr>
          <a:xfrm>
            <a:off x="4911436" y="1403924"/>
            <a:ext cx="3920875" cy="2335650"/>
          </a:xfrm>
          <a:prstGeom prst="rect">
            <a:avLst/>
          </a:prstGeom>
          <a:noFill/>
          <a:ln>
            <a:noFill/>
          </a:ln>
        </p:spPr>
      </p:pic>
      <p:sp>
        <p:nvSpPr>
          <p:cNvPr id="77" name="Google Shape;7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Observation: The Brain</a:t>
            </a:r>
            <a:endParaRPr/>
          </a:p>
        </p:txBody>
      </p:sp>
      <p:sp>
        <p:nvSpPr>
          <p:cNvPr id="83" name="Google Shape;83;p17"/>
          <p:cNvSpPr txBox="1"/>
          <p:nvPr>
            <p:ph idx="1" type="body"/>
          </p:nvPr>
        </p:nvSpPr>
        <p:spPr>
          <a:xfrm>
            <a:off x="311700" y="1018475"/>
            <a:ext cx="54114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The brain is a mass of interconnected neurons.</a:t>
            </a:r>
            <a:endParaRPr/>
          </a:p>
          <a:p>
            <a:pPr indent="-355600" lvl="0" marL="457200" rtl="0" algn="l">
              <a:spcBef>
                <a:spcPts val="0"/>
              </a:spcBef>
              <a:spcAft>
                <a:spcPts val="0"/>
              </a:spcAft>
              <a:buSzPts val="2000"/>
              <a:buChar char="➔"/>
            </a:pPr>
            <a:r>
              <a:rPr lang="en"/>
              <a:t>Number of neurons is approximately 10^(10).</a:t>
            </a:r>
            <a:endParaRPr/>
          </a:p>
          <a:p>
            <a:pPr indent="-355600" lvl="0" marL="457200" rtl="0" algn="l">
              <a:spcBef>
                <a:spcPts val="0"/>
              </a:spcBef>
              <a:spcAft>
                <a:spcPts val="0"/>
              </a:spcAft>
              <a:buSzPts val="2000"/>
              <a:buChar char="➔"/>
            </a:pPr>
            <a:r>
              <a:rPr lang="en"/>
              <a:t>Connections per neuron is approximately 10^(4 to 5).</a:t>
            </a:r>
            <a:endParaRPr/>
          </a:p>
          <a:p>
            <a:pPr indent="-355600" lvl="0" marL="457200" rtl="0" algn="l">
              <a:spcBef>
                <a:spcPts val="0"/>
              </a:spcBef>
              <a:spcAft>
                <a:spcPts val="0"/>
              </a:spcAft>
              <a:buSzPts val="2000"/>
              <a:buChar char="➔"/>
            </a:pPr>
            <a:r>
              <a:rPr lang="en"/>
              <a:t>Neuron switching time is approximately 0.001 second.</a:t>
            </a:r>
            <a:endParaRPr/>
          </a:p>
          <a:p>
            <a:pPr indent="-355600" lvl="0" marL="457200" rtl="0" algn="l">
              <a:spcBef>
                <a:spcPts val="0"/>
              </a:spcBef>
              <a:spcAft>
                <a:spcPts val="0"/>
              </a:spcAft>
              <a:buSzPts val="2000"/>
              <a:buChar char="➔"/>
            </a:pPr>
            <a:r>
              <a:rPr lang="en"/>
              <a:t>Scene recognition time is  1 second.</a:t>
            </a:r>
            <a:endParaRPr/>
          </a:p>
          <a:p>
            <a:pPr indent="-355600" lvl="0" marL="457200" rtl="0" algn="l">
              <a:spcBef>
                <a:spcPts val="0"/>
              </a:spcBef>
              <a:spcAft>
                <a:spcPts val="0"/>
              </a:spcAft>
              <a:buSzPts val="2000"/>
              <a:buChar char="➔"/>
            </a:pPr>
            <a:r>
              <a:rPr lang="en"/>
              <a:t>100 inference steps doesn't seem like enough. Lot of parallel computation. </a:t>
            </a:r>
            <a:endParaRPr/>
          </a:p>
        </p:txBody>
      </p:sp>
      <p:pic>
        <p:nvPicPr>
          <p:cNvPr id="84" name="Google Shape;84;p17"/>
          <p:cNvPicPr preferRelativeResize="0"/>
          <p:nvPr/>
        </p:nvPicPr>
        <p:blipFill>
          <a:blip r:embed="rId3">
            <a:alphaModFix/>
          </a:blip>
          <a:stretch>
            <a:fillRect/>
          </a:stretch>
        </p:blipFill>
        <p:spPr>
          <a:xfrm>
            <a:off x="5944425" y="2087450"/>
            <a:ext cx="2887875" cy="1757850"/>
          </a:xfrm>
          <a:prstGeom prst="rect">
            <a:avLst/>
          </a:prstGeom>
          <a:noFill/>
          <a:ln>
            <a:noFill/>
          </a:ln>
        </p:spPr>
      </p:pic>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Brain: Interconnected Neurons</a:t>
            </a:r>
            <a:endParaRPr/>
          </a:p>
        </p:txBody>
      </p:sp>
      <p:sp>
        <p:nvSpPr>
          <p:cNvPr id="91" name="Google Shape;91;p18"/>
          <p:cNvSpPr txBox="1"/>
          <p:nvPr>
            <p:ph idx="1" type="body"/>
          </p:nvPr>
        </p:nvSpPr>
        <p:spPr>
          <a:xfrm>
            <a:off x="311700" y="1018475"/>
            <a:ext cx="54114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Many neurons connect </a:t>
            </a:r>
            <a:r>
              <a:rPr b="1" lang="en"/>
              <a:t>in</a:t>
            </a:r>
            <a:r>
              <a:rPr lang="en"/>
              <a:t> to each neuron.</a:t>
            </a:r>
            <a:endParaRPr/>
          </a:p>
          <a:p>
            <a:pPr indent="-355600" lvl="0" marL="457200" rtl="0" algn="l">
              <a:spcBef>
                <a:spcPts val="0"/>
              </a:spcBef>
              <a:spcAft>
                <a:spcPts val="0"/>
              </a:spcAft>
              <a:buSzPts val="2000"/>
              <a:buChar char="➔"/>
            </a:pPr>
            <a:r>
              <a:rPr lang="en"/>
              <a:t>Each neuron connects </a:t>
            </a:r>
            <a:r>
              <a:rPr b="1" lang="en"/>
              <a:t>out</a:t>
            </a:r>
            <a:r>
              <a:rPr lang="en"/>
              <a:t> to many neurons.</a:t>
            </a:r>
            <a:endParaRPr/>
          </a:p>
          <a:p>
            <a:pPr indent="0" lvl="0" marL="0" rtl="0" algn="l">
              <a:spcBef>
                <a:spcPts val="1200"/>
              </a:spcBef>
              <a:spcAft>
                <a:spcPts val="1200"/>
              </a:spcAft>
              <a:buNone/>
            </a:pPr>
            <a:r>
              <a:t/>
            </a:r>
            <a:endParaRPr/>
          </a:p>
        </p:txBody>
      </p:sp>
      <p:pic>
        <p:nvPicPr>
          <p:cNvPr id="92" name="Google Shape;92;p18"/>
          <p:cNvPicPr preferRelativeResize="0"/>
          <p:nvPr/>
        </p:nvPicPr>
        <p:blipFill>
          <a:blip r:embed="rId3">
            <a:alphaModFix/>
          </a:blip>
          <a:stretch>
            <a:fillRect/>
          </a:stretch>
        </p:blipFill>
        <p:spPr>
          <a:xfrm>
            <a:off x="2103120" y="2560320"/>
            <a:ext cx="4923150" cy="2027925"/>
          </a:xfrm>
          <a:prstGeom prst="rect">
            <a:avLst/>
          </a:prstGeom>
          <a:noFill/>
          <a:ln>
            <a:noFill/>
          </a:ln>
        </p:spPr>
      </p:pic>
      <p:sp>
        <p:nvSpPr>
          <p:cNvPr id="93" name="Google Shape;9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Biological Neuron	</a:t>
            </a:r>
            <a:endParaRPr/>
          </a:p>
        </p:txBody>
      </p:sp>
      <p:sp>
        <p:nvSpPr>
          <p:cNvPr id="99" name="Google Shape;9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0" name="Google Shape;100;p19"/>
          <p:cNvPicPr preferRelativeResize="0"/>
          <p:nvPr/>
        </p:nvPicPr>
        <p:blipFill>
          <a:blip r:embed="rId3">
            <a:alphaModFix/>
          </a:blip>
          <a:stretch>
            <a:fillRect/>
          </a:stretch>
        </p:blipFill>
        <p:spPr>
          <a:xfrm>
            <a:off x="2103120" y="2560320"/>
            <a:ext cx="4603825" cy="2201825"/>
          </a:xfrm>
          <a:prstGeom prst="rect">
            <a:avLst/>
          </a:prstGeom>
          <a:noFill/>
          <a:ln>
            <a:noFill/>
          </a:ln>
        </p:spPr>
      </p:pic>
      <p:sp>
        <p:nvSpPr>
          <p:cNvPr id="101" name="Google Shape;101;p19"/>
          <p:cNvSpPr txBox="1"/>
          <p:nvPr>
            <p:ph idx="1" type="body"/>
          </p:nvPr>
        </p:nvSpPr>
        <p:spPr>
          <a:xfrm>
            <a:off x="311700" y="1018475"/>
            <a:ext cx="6858000" cy="16941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Clr>
                <a:schemeClr val="dk1"/>
              </a:buClr>
              <a:buSzPts val="1100"/>
              <a:buFont typeface="Arial"/>
              <a:buNone/>
            </a:pPr>
            <a:r>
              <a:rPr lang="en"/>
              <a:t>Key Components:</a:t>
            </a:r>
            <a:endParaRPr/>
          </a:p>
          <a:p>
            <a:pPr indent="-355600" lvl="0" marL="457200" rtl="0" algn="l">
              <a:lnSpc>
                <a:spcPct val="100000"/>
              </a:lnSpc>
              <a:spcBef>
                <a:spcPts val="0"/>
              </a:spcBef>
              <a:spcAft>
                <a:spcPts val="0"/>
              </a:spcAft>
              <a:buSzPts val="2000"/>
              <a:buChar char="➔"/>
            </a:pPr>
            <a:r>
              <a:rPr b="1" lang="en"/>
              <a:t>Dendrites: </a:t>
            </a:r>
            <a:r>
              <a:rPr lang="en"/>
              <a:t>Receive signals from other neurons</a:t>
            </a:r>
            <a:endParaRPr/>
          </a:p>
          <a:p>
            <a:pPr indent="-355600" lvl="0" marL="457200" rtl="0" algn="l">
              <a:lnSpc>
                <a:spcPct val="100000"/>
              </a:lnSpc>
              <a:spcBef>
                <a:spcPts val="0"/>
              </a:spcBef>
              <a:spcAft>
                <a:spcPts val="0"/>
              </a:spcAft>
              <a:buSzPts val="2000"/>
              <a:buChar char="➔"/>
            </a:pPr>
            <a:r>
              <a:rPr b="1" lang="en"/>
              <a:t>Cell Body (Soma): </a:t>
            </a:r>
            <a:r>
              <a:rPr lang="en"/>
              <a:t>Processes incoming signals</a:t>
            </a:r>
            <a:endParaRPr/>
          </a:p>
          <a:p>
            <a:pPr indent="-355600" lvl="0" marL="457200" rtl="0" algn="l">
              <a:lnSpc>
                <a:spcPct val="100000"/>
              </a:lnSpc>
              <a:spcBef>
                <a:spcPts val="0"/>
              </a:spcBef>
              <a:spcAft>
                <a:spcPts val="0"/>
              </a:spcAft>
              <a:buSzPts val="2000"/>
              <a:buChar char="➔"/>
            </a:pPr>
            <a:r>
              <a:rPr b="1" lang="en"/>
              <a:t>Axon: </a:t>
            </a:r>
            <a:r>
              <a:rPr lang="en"/>
              <a:t>Transmits output signal</a:t>
            </a:r>
            <a:endParaRPr/>
          </a:p>
          <a:p>
            <a:pPr indent="-355600" lvl="0" marL="457200" rtl="0" algn="l">
              <a:lnSpc>
                <a:spcPct val="100000"/>
              </a:lnSpc>
              <a:spcBef>
                <a:spcPts val="0"/>
              </a:spcBef>
              <a:spcAft>
                <a:spcPts val="0"/>
              </a:spcAft>
              <a:buSzPts val="2000"/>
              <a:buChar char="➔"/>
            </a:pPr>
            <a:r>
              <a:rPr b="1" lang="en"/>
              <a:t>Synapses: </a:t>
            </a:r>
            <a:r>
              <a:rPr lang="en"/>
              <a:t>Connection points between neurons</a:t>
            </a:r>
            <a:endParaRPr/>
          </a:p>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Artificial Neuron</a:t>
            </a:r>
            <a:endParaRPr/>
          </a:p>
        </p:txBody>
      </p:sp>
      <p:sp>
        <p:nvSpPr>
          <p:cNvPr id="107" name="Google Shape;107;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Artificial Neurons?</a:t>
            </a:r>
            <a:endParaRPr/>
          </a:p>
        </p:txBody>
      </p:sp>
      <p:sp>
        <p:nvSpPr>
          <p:cNvPr id="113" name="Google Shape;113;p21"/>
          <p:cNvSpPr txBox="1"/>
          <p:nvPr>
            <p:ph idx="1" type="body"/>
          </p:nvPr>
        </p:nvSpPr>
        <p:spPr>
          <a:xfrm>
            <a:off x="311700" y="1018475"/>
            <a:ext cx="54114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Neuron is a processing element inspired by how the brain works.</a:t>
            </a:r>
            <a:endParaRPr/>
          </a:p>
          <a:p>
            <a:pPr indent="-355600" lvl="0" marL="457200" rtl="0" algn="l">
              <a:spcBef>
                <a:spcPts val="0"/>
              </a:spcBef>
              <a:spcAft>
                <a:spcPts val="0"/>
              </a:spcAft>
              <a:buSzPts val="2000"/>
              <a:buChar char="➔"/>
            </a:pPr>
            <a:r>
              <a:rPr lang="en"/>
              <a:t>Similar to biological neuron, each artificial neuron will be do some computation. Each neuron is interconnected to other neurons. </a:t>
            </a:r>
            <a:endParaRPr/>
          </a:p>
          <a:p>
            <a:pPr indent="-355600" lvl="0" marL="457200" rtl="0" algn="l">
              <a:spcBef>
                <a:spcPts val="0"/>
              </a:spcBef>
              <a:spcAft>
                <a:spcPts val="0"/>
              </a:spcAft>
              <a:buSzPts val="2000"/>
              <a:buChar char="➔"/>
            </a:pPr>
            <a:r>
              <a:rPr lang="en"/>
              <a:t>Similar to brain, the interconnections between neurons store the knowledge it learns. The knowledge is stored as parameters. </a:t>
            </a:r>
            <a:endParaRPr/>
          </a:p>
        </p:txBody>
      </p:sp>
      <p:sp>
        <p:nvSpPr>
          <p:cNvPr id="114" name="Google Shape;11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15" name="Google Shape;115;p21" title="Screenshot from 2025-10-15 12-10-24.png"/>
          <p:cNvPicPr preferRelativeResize="0"/>
          <p:nvPr/>
        </p:nvPicPr>
        <p:blipFill>
          <a:blip r:embed="rId3">
            <a:alphaModFix/>
          </a:blip>
          <a:stretch>
            <a:fillRect/>
          </a:stretch>
        </p:blipFill>
        <p:spPr>
          <a:xfrm>
            <a:off x="5723100" y="1850675"/>
            <a:ext cx="3116100" cy="212008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Artificial Neuron N</a:t>
            </a:r>
            <a:endParaRPr/>
          </a:p>
        </p:txBody>
      </p:sp>
      <p:sp>
        <p:nvSpPr>
          <p:cNvPr id="121" name="Google Shape;121;p22"/>
          <p:cNvSpPr txBox="1"/>
          <p:nvPr>
            <p:ph idx="1" type="body"/>
          </p:nvPr>
        </p:nvSpPr>
        <p:spPr>
          <a:xfrm>
            <a:off x="311700" y="1018475"/>
            <a:ext cx="54114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Processing neuron N performs a very basic computation.</a:t>
            </a:r>
            <a:endParaRPr/>
          </a:p>
          <a:p>
            <a:pPr indent="-355600" lvl="0" marL="457200" rtl="0" algn="l">
              <a:spcBef>
                <a:spcPts val="0"/>
              </a:spcBef>
              <a:spcAft>
                <a:spcPts val="0"/>
              </a:spcAft>
              <a:buSzPts val="2000"/>
              <a:buChar char="➔"/>
            </a:pPr>
            <a:r>
              <a:rPr lang="en"/>
              <a:t>For each feature x</a:t>
            </a:r>
            <a:r>
              <a:rPr baseline="-25000" lang="en"/>
              <a:t>i</a:t>
            </a:r>
            <a:r>
              <a:rPr lang="en"/>
              <a:t> , weight w</a:t>
            </a:r>
            <a:r>
              <a:rPr baseline="-25000" lang="en"/>
              <a:t>i</a:t>
            </a:r>
            <a:r>
              <a:rPr lang="en"/>
              <a:t> shows the importance to the feature</a:t>
            </a:r>
            <a:endParaRPr/>
          </a:p>
          <a:p>
            <a:pPr indent="-355600" lvl="0" marL="457200" rtl="0" algn="l">
              <a:spcBef>
                <a:spcPts val="0"/>
              </a:spcBef>
              <a:spcAft>
                <a:spcPts val="0"/>
              </a:spcAft>
              <a:buSzPts val="2000"/>
              <a:buChar char="➔"/>
            </a:pPr>
            <a:r>
              <a:rPr lang="en"/>
              <a:t>N generates one numerical output ŷ</a:t>
            </a:r>
            <a:endParaRPr/>
          </a:p>
        </p:txBody>
      </p:sp>
      <p:sp>
        <p:nvSpPr>
          <p:cNvPr id="122" name="Google Shape;12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23" name="Google Shape;123;p22" title="Screenshot from 2025-10-15 12-10-28.png"/>
          <p:cNvPicPr preferRelativeResize="0"/>
          <p:nvPr/>
        </p:nvPicPr>
        <p:blipFill>
          <a:blip r:embed="rId3">
            <a:alphaModFix/>
          </a:blip>
          <a:stretch>
            <a:fillRect/>
          </a:stretch>
        </p:blipFill>
        <p:spPr>
          <a:xfrm>
            <a:off x="5723100" y="1633975"/>
            <a:ext cx="3116100" cy="26648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Artificial Neuron – </a:t>
            </a:r>
            <a:r>
              <a:rPr lang="en"/>
              <a:t>Mathematical Computation</a:t>
            </a:r>
            <a:endParaRPr/>
          </a:p>
        </p:txBody>
      </p:sp>
      <p:sp>
        <p:nvSpPr>
          <p:cNvPr id="129" name="Google Shape;129;p23"/>
          <p:cNvSpPr txBox="1"/>
          <p:nvPr>
            <p:ph idx="1" type="body"/>
          </p:nvPr>
        </p:nvSpPr>
        <p:spPr>
          <a:xfrm>
            <a:off x="311700" y="1018475"/>
            <a:ext cx="85206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Sum of weights w</a:t>
            </a:r>
            <a:r>
              <a:rPr baseline="-25000" lang="en"/>
              <a:t>i</a:t>
            </a:r>
            <a:r>
              <a:rPr lang="en"/>
              <a:t> times corresponding features x</a:t>
            </a:r>
            <a:r>
              <a:rPr baseline="-25000" lang="en"/>
              <a:t>i</a:t>
            </a:r>
            <a:endParaRPr baseline="-25000"/>
          </a:p>
          <a:p>
            <a:pPr indent="-355600" lvl="0" marL="457200" rtl="0" algn="l">
              <a:spcBef>
                <a:spcPts val="0"/>
              </a:spcBef>
              <a:spcAft>
                <a:spcPts val="0"/>
              </a:spcAft>
              <a:buSzPts val="2000"/>
              <a:buChar char="➔"/>
            </a:pPr>
            <a:r>
              <a:rPr lang="en"/>
              <a:t>Apply activation function f () on the sum.</a:t>
            </a:r>
            <a:endParaRPr/>
          </a:p>
          <a:p>
            <a:pPr indent="0" lvl="0" marL="0" rtl="0" algn="l">
              <a:spcBef>
                <a:spcPts val="1200"/>
              </a:spcBef>
              <a:spcAft>
                <a:spcPts val="1200"/>
              </a:spcAft>
              <a:buNone/>
            </a:pPr>
            <a:r>
              <a:t/>
            </a:r>
            <a:endParaRPr/>
          </a:p>
        </p:txBody>
      </p:sp>
      <p:sp>
        <p:nvSpPr>
          <p:cNvPr id="130" name="Google Shape;13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31" name="Google Shape;131;p23" title="Screenshot from 2025-10-15 12-10-30.png"/>
          <p:cNvPicPr preferRelativeResize="0"/>
          <p:nvPr/>
        </p:nvPicPr>
        <p:blipFill>
          <a:blip r:embed="rId3">
            <a:alphaModFix/>
          </a:blip>
          <a:stretch>
            <a:fillRect/>
          </a:stretch>
        </p:blipFill>
        <p:spPr>
          <a:xfrm>
            <a:off x="640080" y="1828800"/>
            <a:ext cx="7315199" cy="28508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4"/>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Comparison: Biological vs Artificial Neurons</a:t>
            </a:r>
            <a:endParaRPr/>
          </a:p>
        </p:txBody>
      </p:sp>
      <p:sp>
        <p:nvSpPr>
          <p:cNvPr id="138" name="Google Shape;138;p24"/>
          <p:cNvSpPr txBox="1"/>
          <p:nvPr>
            <p:ph idx="1" type="body"/>
          </p:nvPr>
        </p:nvSpPr>
        <p:spPr>
          <a:xfrm>
            <a:off x="311700" y="1018475"/>
            <a:ext cx="4196400" cy="389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Biological Neuron </a:t>
            </a:r>
            <a:endParaRPr b="1"/>
          </a:p>
          <a:p>
            <a:pPr indent="-355600" lvl="0" marL="457200" rtl="0" algn="l">
              <a:spcBef>
                <a:spcPts val="1200"/>
              </a:spcBef>
              <a:spcAft>
                <a:spcPts val="0"/>
              </a:spcAft>
              <a:buSzPts val="2000"/>
              <a:buChar char="➔"/>
            </a:pPr>
            <a:r>
              <a:rPr lang="en"/>
              <a:t>Complex biochemical processes  </a:t>
            </a:r>
            <a:endParaRPr/>
          </a:p>
          <a:p>
            <a:pPr indent="-355600" lvl="0" marL="457200" rtl="0" algn="l">
              <a:spcBef>
                <a:spcPts val="0"/>
              </a:spcBef>
              <a:spcAft>
                <a:spcPts val="0"/>
              </a:spcAft>
              <a:buSzPts val="2000"/>
              <a:buChar char="➔"/>
            </a:pPr>
            <a:r>
              <a:rPr lang="en"/>
              <a:t>Analog signal processing  </a:t>
            </a:r>
            <a:endParaRPr/>
          </a:p>
          <a:p>
            <a:pPr indent="-355600" lvl="0" marL="457200" rtl="0" algn="l">
              <a:spcBef>
                <a:spcPts val="0"/>
              </a:spcBef>
              <a:spcAft>
                <a:spcPts val="0"/>
              </a:spcAft>
              <a:buSzPts val="2000"/>
              <a:buChar char="➔"/>
            </a:pPr>
            <a:r>
              <a:rPr lang="en"/>
              <a:t>Adaptive synaptic strengths  </a:t>
            </a:r>
            <a:endParaRPr/>
          </a:p>
          <a:p>
            <a:pPr indent="-355600" lvl="0" marL="457200" rtl="0" algn="l">
              <a:spcBef>
                <a:spcPts val="0"/>
              </a:spcBef>
              <a:spcAft>
                <a:spcPts val="0"/>
              </a:spcAft>
              <a:buSzPts val="2000"/>
              <a:buChar char="➔"/>
            </a:pPr>
            <a:r>
              <a:rPr lang="en"/>
              <a:t>Parallel processing  </a:t>
            </a:r>
            <a:endParaRPr/>
          </a:p>
          <a:p>
            <a:pPr indent="-355600" lvl="0" marL="457200" rtl="0" algn="l">
              <a:spcBef>
                <a:spcPts val="0"/>
              </a:spcBef>
              <a:spcAft>
                <a:spcPts val="0"/>
              </a:spcAft>
              <a:buSzPts val="2000"/>
              <a:buChar char="➔"/>
            </a:pPr>
            <a:r>
              <a:rPr lang="en"/>
              <a:t>Learning through experience  </a:t>
            </a:r>
            <a:endParaRPr/>
          </a:p>
          <a:p>
            <a:pPr indent="-355600" lvl="0" marL="457200" rtl="0" algn="l">
              <a:spcBef>
                <a:spcPts val="0"/>
              </a:spcBef>
              <a:spcAft>
                <a:spcPts val="0"/>
              </a:spcAft>
              <a:buSzPts val="2000"/>
              <a:buChar char="➔"/>
            </a:pPr>
            <a:r>
              <a:rPr lang="en"/>
              <a:t>Fault tolerant  </a:t>
            </a:r>
            <a:endParaRPr/>
          </a:p>
        </p:txBody>
      </p:sp>
      <p:sp>
        <p:nvSpPr>
          <p:cNvPr id="139" name="Google Shape;139;p24"/>
          <p:cNvSpPr txBox="1"/>
          <p:nvPr>
            <p:ph idx="1" type="body"/>
          </p:nvPr>
        </p:nvSpPr>
        <p:spPr>
          <a:xfrm>
            <a:off x="4660500" y="1018475"/>
            <a:ext cx="4196400" cy="389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Artificial Neuron</a:t>
            </a:r>
            <a:endParaRPr b="1"/>
          </a:p>
          <a:p>
            <a:pPr indent="-355600" lvl="0" marL="457200" rtl="0" algn="l">
              <a:spcBef>
                <a:spcPts val="1200"/>
              </a:spcBef>
              <a:spcAft>
                <a:spcPts val="0"/>
              </a:spcAft>
              <a:buSzPts val="2000"/>
              <a:buChar char="➔"/>
            </a:pPr>
            <a:r>
              <a:rPr lang="en"/>
              <a:t>Simple mathematical model</a:t>
            </a:r>
            <a:endParaRPr/>
          </a:p>
          <a:p>
            <a:pPr indent="-355600" lvl="0" marL="457200" rtl="0" algn="l">
              <a:spcBef>
                <a:spcPts val="0"/>
              </a:spcBef>
              <a:spcAft>
                <a:spcPts val="0"/>
              </a:spcAft>
              <a:buSzPts val="2000"/>
              <a:buChar char="➔"/>
            </a:pPr>
            <a:r>
              <a:rPr lang="en"/>
              <a:t>Digital computation</a:t>
            </a:r>
            <a:endParaRPr/>
          </a:p>
          <a:p>
            <a:pPr indent="-355600" lvl="0" marL="457200" rtl="0" algn="l">
              <a:spcBef>
                <a:spcPts val="0"/>
              </a:spcBef>
              <a:spcAft>
                <a:spcPts val="0"/>
              </a:spcAft>
              <a:buSzPts val="2000"/>
              <a:buChar char="➔"/>
            </a:pPr>
            <a:r>
              <a:rPr lang="en"/>
              <a:t>Adjustable weights</a:t>
            </a:r>
            <a:endParaRPr/>
          </a:p>
          <a:p>
            <a:pPr indent="-355600" lvl="0" marL="457200" rtl="0" algn="l">
              <a:spcBef>
                <a:spcPts val="0"/>
              </a:spcBef>
              <a:spcAft>
                <a:spcPts val="0"/>
              </a:spcAft>
              <a:buSzPts val="2000"/>
              <a:buChar char="➔"/>
            </a:pPr>
            <a:r>
              <a:rPr lang="en"/>
              <a:t>Parallel computation possible</a:t>
            </a:r>
            <a:endParaRPr/>
          </a:p>
          <a:p>
            <a:pPr indent="-355600" lvl="0" marL="457200" rtl="0" algn="l">
              <a:spcBef>
                <a:spcPts val="0"/>
              </a:spcBef>
              <a:spcAft>
                <a:spcPts val="0"/>
              </a:spcAft>
              <a:buSzPts val="2000"/>
              <a:buChar char="➔"/>
            </a:pPr>
            <a:r>
              <a:rPr lang="en"/>
              <a:t>Learning through algorithms</a:t>
            </a:r>
            <a:endParaRPr/>
          </a:p>
          <a:p>
            <a:pPr indent="-355600" lvl="0" marL="457200" rtl="0" algn="l">
              <a:spcBef>
                <a:spcPts val="0"/>
              </a:spcBef>
              <a:spcAft>
                <a:spcPts val="0"/>
              </a:spcAft>
              <a:buSzPts val="2000"/>
              <a:buChar char="➔"/>
            </a:pPr>
            <a:r>
              <a:rPr lang="en"/>
              <a:t>Deterministic behavior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Artificial Neural Network (ANN)</a:t>
            </a:r>
            <a:endParaRPr/>
          </a:p>
        </p:txBody>
      </p:sp>
      <p:sp>
        <p:nvSpPr>
          <p:cNvPr id="145" name="Google Shape;145;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are Artificial Neural Networks?	</a:t>
            </a:r>
            <a:endParaRPr/>
          </a:p>
        </p:txBody>
      </p:sp>
      <p:sp>
        <p:nvSpPr>
          <p:cNvPr id="151" name="Google Shape;151;p26"/>
          <p:cNvSpPr txBox="1"/>
          <p:nvPr>
            <p:ph idx="1" type="body"/>
          </p:nvPr>
        </p:nvSpPr>
        <p:spPr>
          <a:xfrm>
            <a:off x="311700" y="1018475"/>
            <a:ext cx="54114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Neural Network is a computational model inspired by human brain</a:t>
            </a:r>
            <a:endParaRPr/>
          </a:p>
          <a:p>
            <a:pPr indent="-355600" lvl="0" marL="457200" rtl="0" algn="l">
              <a:spcBef>
                <a:spcPts val="0"/>
              </a:spcBef>
              <a:spcAft>
                <a:spcPts val="0"/>
              </a:spcAft>
              <a:buSzPts val="2000"/>
              <a:buChar char="➔"/>
            </a:pPr>
            <a:r>
              <a:rPr lang="en"/>
              <a:t>Interconnected neurons process information</a:t>
            </a:r>
            <a:endParaRPr/>
          </a:p>
          <a:p>
            <a:pPr indent="-355600" lvl="0" marL="457200" rtl="0" algn="l">
              <a:spcBef>
                <a:spcPts val="0"/>
              </a:spcBef>
              <a:spcAft>
                <a:spcPts val="0"/>
              </a:spcAft>
              <a:buSzPts val="2000"/>
              <a:buChar char="➔"/>
            </a:pPr>
            <a:r>
              <a:rPr lang="en"/>
              <a:t>Interconnection can be forward, recursive or self loop</a:t>
            </a:r>
            <a:endParaRPr/>
          </a:p>
          <a:p>
            <a:pPr indent="-355600" lvl="0" marL="457200" rtl="0" algn="l">
              <a:spcBef>
                <a:spcPts val="0"/>
              </a:spcBef>
              <a:spcAft>
                <a:spcPts val="0"/>
              </a:spcAft>
              <a:buSzPts val="2000"/>
              <a:buChar char="➔"/>
            </a:pPr>
            <a:r>
              <a:rPr lang="en"/>
              <a:t>Learn patterns from data through training</a:t>
            </a:r>
            <a:endParaRPr/>
          </a:p>
          <a:p>
            <a:pPr indent="-355600" lvl="0" marL="457200" rtl="0" algn="l">
              <a:spcBef>
                <a:spcPts val="0"/>
              </a:spcBef>
              <a:spcAft>
                <a:spcPts val="0"/>
              </a:spcAft>
              <a:buSzPts val="2000"/>
              <a:buChar char="➔"/>
            </a:pPr>
            <a:r>
              <a:rPr lang="en"/>
              <a:t>Capable of approximating complex functions</a:t>
            </a:r>
            <a:endParaRPr/>
          </a:p>
        </p:txBody>
      </p:sp>
      <p:sp>
        <p:nvSpPr>
          <p:cNvPr id="152" name="Google Shape;15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53" name="Google Shape;153;p26" title="Screenshot from 2025-10-15 12-10-34.png"/>
          <p:cNvPicPr preferRelativeResize="0"/>
          <p:nvPr/>
        </p:nvPicPr>
        <p:blipFill>
          <a:blip r:embed="rId3">
            <a:alphaModFix/>
          </a:blip>
          <a:stretch>
            <a:fillRect/>
          </a:stretch>
        </p:blipFill>
        <p:spPr>
          <a:xfrm>
            <a:off x="5723100" y="1622900"/>
            <a:ext cx="3116101" cy="247336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Properties of  Artificial Neural Network</a:t>
            </a:r>
            <a:endParaRPr/>
          </a:p>
        </p:txBody>
      </p:sp>
      <p:sp>
        <p:nvSpPr>
          <p:cNvPr id="159" name="Google Shape;159;p27"/>
          <p:cNvSpPr txBox="1"/>
          <p:nvPr>
            <p:ph idx="1" type="body"/>
          </p:nvPr>
        </p:nvSpPr>
        <p:spPr>
          <a:xfrm>
            <a:off x="311700" y="1018475"/>
            <a:ext cx="85206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Many neuron-like threshold switching units.</a:t>
            </a:r>
            <a:endParaRPr/>
          </a:p>
          <a:p>
            <a:pPr indent="-355600" lvl="0" marL="457200" rtl="0" algn="l">
              <a:spcBef>
                <a:spcPts val="0"/>
              </a:spcBef>
              <a:spcAft>
                <a:spcPts val="0"/>
              </a:spcAft>
              <a:buSzPts val="2000"/>
              <a:buChar char="●"/>
            </a:pPr>
            <a:r>
              <a:rPr lang="en"/>
              <a:t>Many weighted interconnections among units.</a:t>
            </a:r>
            <a:endParaRPr/>
          </a:p>
          <a:p>
            <a:pPr indent="-355600" lvl="0" marL="457200" rtl="0" algn="l">
              <a:spcBef>
                <a:spcPts val="0"/>
              </a:spcBef>
              <a:spcAft>
                <a:spcPts val="0"/>
              </a:spcAft>
              <a:buSzPts val="2000"/>
              <a:buChar char="●"/>
            </a:pPr>
            <a:r>
              <a:rPr lang="en"/>
              <a:t>Highly parallel, distributed process.</a:t>
            </a:r>
            <a:endParaRPr/>
          </a:p>
          <a:p>
            <a:pPr indent="-355600" lvl="0" marL="457200" rtl="0" algn="l">
              <a:spcBef>
                <a:spcPts val="0"/>
              </a:spcBef>
              <a:spcAft>
                <a:spcPts val="0"/>
              </a:spcAft>
              <a:buSzPts val="2000"/>
              <a:buChar char="●"/>
            </a:pPr>
            <a:r>
              <a:rPr lang="en"/>
              <a:t>Emphasis on tuning parameters or weights automatically.</a:t>
            </a:r>
            <a:endParaRPr/>
          </a:p>
          <a:p>
            <a:pPr indent="0" lvl="0" marL="0" rtl="0" algn="l">
              <a:spcBef>
                <a:spcPts val="1200"/>
              </a:spcBef>
              <a:spcAft>
                <a:spcPts val="1200"/>
              </a:spcAft>
              <a:buNone/>
            </a:pPr>
            <a:r>
              <a:t/>
            </a:r>
            <a:endParaRPr/>
          </a:p>
        </p:txBody>
      </p:sp>
      <p:sp>
        <p:nvSpPr>
          <p:cNvPr id="160" name="Google Shape;160;p27"/>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When to consider </a:t>
            </a:r>
            <a:r>
              <a:rPr lang="en"/>
              <a:t>Artificial</a:t>
            </a:r>
            <a:r>
              <a:rPr lang="en"/>
              <a:t> Neural Networks?</a:t>
            </a:r>
            <a:endParaRPr/>
          </a:p>
        </p:txBody>
      </p:sp>
      <p:sp>
        <p:nvSpPr>
          <p:cNvPr id="166" name="Google Shape;166;p28"/>
          <p:cNvSpPr txBox="1"/>
          <p:nvPr>
            <p:ph idx="1" type="body"/>
          </p:nvPr>
        </p:nvSpPr>
        <p:spPr>
          <a:xfrm>
            <a:off x="311700" y="1018475"/>
            <a:ext cx="85206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Input is high-dimensional discrete or real-valued (e.g. raw sensor input). </a:t>
            </a:r>
            <a:endParaRPr/>
          </a:p>
          <a:p>
            <a:pPr indent="-355600" lvl="0" marL="457200" rtl="0" algn="l">
              <a:spcBef>
                <a:spcPts val="0"/>
              </a:spcBef>
              <a:spcAft>
                <a:spcPts val="0"/>
              </a:spcAft>
              <a:buSzPts val="2000"/>
              <a:buChar char="●"/>
            </a:pPr>
            <a:r>
              <a:rPr lang="en"/>
              <a:t>Possibly noisy data. Data has lots of errors. </a:t>
            </a:r>
            <a:endParaRPr/>
          </a:p>
          <a:p>
            <a:pPr indent="-355600" lvl="0" marL="457200" rtl="0" algn="l">
              <a:spcBef>
                <a:spcPts val="0"/>
              </a:spcBef>
              <a:spcAft>
                <a:spcPts val="0"/>
              </a:spcAft>
              <a:buSzPts val="2000"/>
              <a:buChar char="●"/>
            </a:pPr>
            <a:r>
              <a:rPr lang="en"/>
              <a:t>Output is discrete or real valued or a vector of values.</a:t>
            </a:r>
            <a:endParaRPr/>
          </a:p>
          <a:p>
            <a:pPr indent="-355600" lvl="0" marL="457200" rtl="0" algn="l">
              <a:spcBef>
                <a:spcPts val="0"/>
              </a:spcBef>
              <a:spcAft>
                <a:spcPts val="0"/>
              </a:spcAft>
              <a:buSzPts val="2000"/>
              <a:buChar char="●"/>
            </a:pPr>
            <a:r>
              <a:rPr lang="en"/>
              <a:t>Form of target function is unknown. </a:t>
            </a:r>
            <a:endParaRPr/>
          </a:p>
          <a:p>
            <a:pPr indent="-355600" lvl="0" marL="457200" rtl="0" algn="l">
              <a:spcBef>
                <a:spcPts val="0"/>
              </a:spcBef>
              <a:spcAft>
                <a:spcPts val="0"/>
              </a:spcAft>
              <a:buSzPts val="2000"/>
              <a:buChar char="●"/>
            </a:pPr>
            <a:r>
              <a:rPr lang="en"/>
              <a:t>Human readability, in other words, explainability, of result is unimportant. </a:t>
            </a:r>
            <a:endParaRPr/>
          </a:p>
          <a:p>
            <a:pPr indent="-355600" lvl="0" marL="457200" rtl="0" algn="l">
              <a:spcBef>
                <a:spcPts val="0"/>
              </a:spcBef>
              <a:spcAft>
                <a:spcPts val="0"/>
              </a:spcAft>
              <a:buSzPts val="2000"/>
              <a:buChar char="●"/>
            </a:pPr>
            <a:r>
              <a:rPr lang="en"/>
              <a:t>Examples:</a:t>
            </a:r>
            <a:endParaRPr/>
          </a:p>
          <a:p>
            <a:pPr indent="-330200" lvl="1" marL="914400" rtl="0" algn="l">
              <a:spcBef>
                <a:spcPts val="0"/>
              </a:spcBef>
              <a:spcAft>
                <a:spcPts val="0"/>
              </a:spcAft>
              <a:buSzPts val="1600"/>
              <a:buChar char="○"/>
            </a:pPr>
            <a:r>
              <a:rPr lang="en"/>
              <a:t>Speech phoneme recognition </a:t>
            </a:r>
            <a:endParaRPr/>
          </a:p>
          <a:p>
            <a:pPr indent="-330200" lvl="1" marL="914400" rtl="0" algn="l">
              <a:spcBef>
                <a:spcPts val="0"/>
              </a:spcBef>
              <a:spcAft>
                <a:spcPts val="0"/>
              </a:spcAft>
              <a:buSzPts val="1600"/>
              <a:buChar char="○"/>
            </a:pPr>
            <a:r>
              <a:rPr lang="en"/>
              <a:t>Image classification</a:t>
            </a:r>
            <a:endParaRPr/>
          </a:p>
          <a:p>
            <a:pPr indent="-330200" lvl="1" marL="914400" rtl="0" algn="l">
              <a:spcBef>
                <a:spcPts val="0"/>
              </a:spcBef>
              <a:spcAft>
                <a:spcPts val="0"/>
              </a:spcAft>
              <a:buSzPts val="1600"/>
              <a:buChar char="○"/>
            </a:pPr>
            <a:r>
              <a:rPr lang="en"/>
              <a:t>Financial prediction</a:t>
            </a:r>
            <a:endParaRPr/>
          </a:p>
        </p:txBody>
      </p:sp>
      <p:sp>
        <p:nvSpPr>
          <p:cNvPr id="167" name="Google Shape;167;p28"/>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Connectionist Machines</a:t>
            </a:r>
            <a:endParaRPr/>
          </a:p>
        </p:txBody>
      </p:sp>
      <p:sp>
        <p:nvSpPr>
          <p:cNvPr id="173" name="Google Shape;173;p29"/>
          <p:cNvSpPr txBox="1"/>
          <p:nvPr>
            <p:ph idx="1" type="body"/>
          </p:nvPr>
        </p:nvSpPr>
        <p:spPr>
          <a:xfrm>
            <a:off x="311700" y="1018475"/>
            <a:ext cx="5411400" cy="3895800"/>
          </a:xfrm>
          <a:prstGeom prst="rect">
            <a:avLst/>
          </a:prstGeom>
        </p:spPr>
        <p:txBody>
          <a:bodyPr anchorCtr="0" anchor="t" bIns="91425" lIns="91425" spcFirstLastPara="1" rIns="91425" wrap="square" tIns="91425">
            <a:normAutofit lnSpcReduction="10000"/>
          </a:bodyPr>
          <a:lstStyle/>
          <a:p>
            <a:pPr indent="-355600" lvl="0" marL="457200" rtl="0" algn="l">
              <a:spcBef>
                <a:spcPts val="0"/>
              </a:spcBef>
              <a:spcAft>
                <a:spcPts val="0"/>
              </a:spcAft>
              <a:buSzPts val="2000"/>
              <a:buChar char="➔"/>
            </a:pPr>
            <a:r>
              <a:rPr lang="en"/>
              <a:t>Network of processing elements, called artificial neurons </a:t>
            </a:r>
            <a:r>
              <a:rPr lang="en" sz="1100">
                <a:solidFill>
                  <a:srgbClr val="F8F8F8"/>
                </a:solidFill>
              </a:rPr>
              <a:t>neuron</a:t>
            </a:r>
            <a:endParaRPr/>
          </a:p>
          <a:p>
            <a:pPr indent="-355600" lvl="0" marL="457200" rtl="0" algn="l">
              <a:spcBef>
                <a:spcPts val="0"/>
              </a:spcBef>
              <a:spcAft>
                <a:spcPts val="0"/>
              </a:spcAft>
              <a:buSzPts val="2000"/>
              <a:buChar char="➔"/>
            </a:pPr>
            <a:r>
              <a:rPr lang="en"/>
              <a:t>The neurons are interconnected to form a network. </a:t>
            </a:r>
            <a:endParaRPr/>
          </a:p>
          <a:p>
            <a:pPr indent="-355600" lvl="0" marL="457200" rtl="0" algn="l">
              <a:spcBef>
                <a:spcPts val="0"/>
              </a:spcBef>
              <a:spcAft>
                <a:spcPts val="0"/>
              </a:spcAft>
              <a:buSzPts val="2000"/>
              <a:buChar char="➔"/>
            </a:pPr>
            <a:r>
              <a:rPr lang="en"/>
              <a:t>Interconnection can be forward, recursive or self loop</a:t>
            </a:r>
            <a:endParaRPr/>
          </a:p>
          <a:p>
            <a:pPr indent="-355600" lvl="0" marL="457200" rtl="0" algn="l">
              <a:spcBef>
                <a:spcPts val="0"/>
              </a:spcBef>
              <a:spcAft>
                <a:spcPts val="0"/>
              </a:spcAft>
              <a:buSzPts val="2000"/>
              <a:buChar char="➔"/>
            </a:pPr>
            <a:r>
              <a:rPr lang="en"/>
              <a:t>All world knowledge is stored in the connections between these elements. </a:t>
            </a:r>
            <a:endParaRPr/>
          </a:p>
          <a:p>
            <a:pPr indent="-355600" lvl="0" marL="457200" rtl="0" algn="l">
              <a:spcBef>
                <a:spcPts val="0"/>
              </a:spcBef>
              <a:spcAft>
                <a:spcPts val="0"/>
              </a:spcAft>
              <a:buSzPts val="2000"/>
              <a:buChar char="➔"/>
            </a:pPr>
            <a:r>
              <a:rPr lang="en"/>
              <a:t>Neural networks are connectionist machines.</a:t>
            </a:r>
            <a:endParaRPr/>
          </a:p>
          <a:p>
            <a:pPr indent="0" lvl="0" marL="0" rtl="0" algn="l">
              <a:spcBef>
                <a:spcPts val="1200"/>
              </a:spcBef>
              <a:spcAft>
                <a:spcPts val="1200"/>
              </a:spcAft>
              <a:buNone/>
            </a:pPr>
            <a:r>
              <a:t/>
            </a:r>
            <a:endParaRPr/>
          </a:p>
        </p:txBody>
      </p:sp>
      <p:pic>
        <p:nvPicPr>
          <p:cNvPr id="174" name="Google Shape;174;p29"/>
          <p:cNvPicPr preferRelativeResize="0"/>
          <p:nvPr/>
        </p:nvPicPr>
        <p:blipFill>
          <a:blip r:embed="rId3">
            <a:alphaModFix/>
          </a:blip>
          <a:stretch>
            <a:fillRect/>
          </a:stretch>
        </p:blipFill>
        <p:spPr>
          <a:xfrm>
            <a:off x="5478425" y="1915338"/>
            <a:ext cx="3353875" cy="2102075"/>
          </a:xfrm>
          <a:prstGeom prst="rect">
            <a:avLst/>
          </a:prstGeom>
          <a:noFill/>
          <a:ln>
            <a:noFill/>
          </a:ln>
        </p:spPr>
      </p:pic>
      <p:sp>
        <p:nvSpPr>
          <p:cNvPr id="175" name="Google Shape;17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Connectionism Principles</a:t>
            </a:r>
            <a:endParaRPr/>
          </a:p>
        </p:txBody>
      </p:sp>
      <p:sp>
        <p:nvSpPr>
          <p:cNvPr id="181" name="Google Shape;181;p30"/>
          <p:cNvSpPr txBox="1"/>
          <p:nvPr>
            <p:ph idx="1" type="body"/>
          </p:nvPr>
        </p:nvSpPr>
        <p:spPr>
          <a:xfrm>
            <a:off x="311700" y="1018475"/>
            <a:ext cx="5411400" cy="389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Core Ideas:</a:t>
            </a:r>
            <a:endParaRPr/>
          </a:p>
          <a:p>
            <a:pPr indent="-355600" lvl="0" marL="457200" rtl="0" algn="l">
              <a:spcBef>
                <a:spcPts val="1200"/>
              </a:spcBef>
              <a:spcAft>
                <a:spcPts val="0"/>
              </a:spcAft>
              <a:buSzPts val="2000"/>
              <a:buChar char="➔"/>
            </a:pPr>
            <a:r>
              <a:rPr lang="en"/>
              <a:t>Intelligence emerges from simple processing neurons</a:t>
            </a:r>
            <a:endParaRPr/>
          </a:p>
          <a:p>
            <a:pPr indent="-355600" lvl="0" marL="457200" rtl="0" algn="l">
              <a:spcBef>
                <a:spcPts val="0"/>
              </a:spcBef>
              <a:spcAft>
                <a:spcPts val="0"/>
              </a:spcAft>
              <a:buSzPts val="2000"/>
              <a:buChar char="➔"/>
            </a:pPr>
            <a:r>
              <a:rPr lang="en"/>
              <a:t>Knowledge is stored in connection weights</a:t>
            </a:r>
            <a:endParaRPr/>
          </a:p>
          <a:p>
            <a:pPr indent="-355600" lvl="0" marL="457200" rtl="0" algn="l">
              <a:spcBef>
                <a:spcPts val="0"/>
              </a:spcBef>
              <a:spcAft>
                <a:spcPts val="0"/>
              </a:spcAft>
              <a:buSzPts val="2000"/>
              <a:buChar char="➔"/>
            </a:pPr>
            <a:r>
              <a:rPr lang="en"/>
              <a:t>Learning modifies connection strengths </a:t>
            </a:r>
            <a:endParaRPr/>
          </a:p>
          <a:p>
            <a:pPr indent="-355600" lvl="0" marL="457200" rtl="0" algn="l">
              <a:spcBef>
                <a:spcPts val="0"/>
              </a:spcBef>
              <a:spcAft>
                <a:spcPts val="0"/>
              </a:spcAft>
              <a:buSzPts val="2000"/>
              <a:buChar char="➔"/>
            </a:pPr>
            <a:r>
              <a:rPr lang="en"/>
              <a:t>Parallel distributed processing</a:t>
            </a:r>
            <a:endParaRPr/>
          </a:p>
          <a:p>
            <a:pPr indent="0" lvl="0" marL="0" rtl="0" algn="l">
              <a:spcBef>
                <a:spcPts val="1200"/>
              </a:spcBef>
              <a:spcAft>
                <a:spcPts val="1200"/>
              </a:spcAft>
              <a:buNone/>
            </a:pPr>
            <a:r>
              <a:t/>
            </a:r>
            <a:endParaRPr/>
          </a:p>
        </p:txBody>
      </p:sp>
      <p:pic>
        <p:nvPicPr>
          <p:cNvPr id="182" name="Google Shape;182;p30"/>
          <p:cNvPicPr preferRelativeResize="0"/>
          <p:nvPr/>
        </p:nvPicPr>
        <p:blipFill>
          <a:blip r:embed="rId3">
            <a:alphaModFix/>
          </a:blip>
          <a:stretch>
            <a:fillRect/>
          </a:stretch>
        </p:blipFill>
        <p:spPr>
          <a:xfrm>
            <a:off x="5478425" y="1915338"/>
            <a:ext cx="3353875" cy="2102075"/>
          </a:xfrm>
          <a:prstGeom prst="rect">
            <a:avLst/>
          </a:prstGeom>
          <a:noFill/>
          <a:ln>
            <a:noFill/>
          </a:ln>
        </p:spPr>
      </p:pic>
      <p:sp>
        <p:nvSpPr>
          <p:cNvPr id="183" name="Google Shape;183;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Perceptron</a:t>
            </a:r>
            <a:endParaRPr/>
          </a:p>
        </p:txBody>
      </p:sp>
      <p:sp>
        <p:nvSpPr>
          <p:cNvPr id="189" name="Google Shape;189;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Perceptron</a:t>
            </a:r>
            <a:endParaRPr/>
          </a:p>
        </p:txBody>
      </p:sp>
      <p:sp>
        <p:nvSpPr>
          <p:cNvPr id="195" name="Google Shape;195;p32"/>
          <p:cNvSpPr txBox="1"/>
          <p:nvPr>
            <p:ph idx="1" type="body"/>
          </p:nvPr>
        </p:nvSpPr>
        <p:spPr>
          <a:xfrm>
            <a:off x="311700" y="1018475"/>
            <a:ext cx="8520600" cy="38958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sz="1900">
                <a:highlight>
                  <a:schemeClr val="lt1"/>
                </a:highlight>
              </a:rPr>
              <a:t>Perceptron = Simplest form of artificial neuron</a:t>
            </a:r>
            <a:endParaRPr sz="1900">
              <a:highlight>
                <a:schemeClr val="lt1"/>
              </a:highlight>
            </a:endParaRPr>
          </a:p>
          <a:p>
            <a:pPr indent="-349250" lvl="0" marL="457200" rtl="0" algn="l">
              <a:spcBef>
                <a:spcPts val="0"/>
              </a:spcBef>
              <a:spcAft>
                <a:spcPts val="0"/>
              </a:spcAft>
              <a:buSzPts val="1900"/>
              <a:buChar char="●"/>
            </a:pPr>
            <a:r>
              <a:rPr lang="en" sz="1900">
                <a:highlight>
                  <a:schemeClr val="lt1"/>
                </a:highlight>
              </a:rPr>
              <a:t>Perceptron was introduced by </a:t>
            </a:r>
            <a:r>
              <a:rPr lang="en" sz="1900">
                <a:highlight>
                  <a:schemeClr val="lt1"/>
                </a:highlight>
              </a:rPr>
              <a:t>Rosenblatt</a:t>
            </a:r>
            <a:r>
              <a:rPr lang="en" sz="1900">
                <a:highlight>
                  <a:schemeClr val="lt1"/>
                </a:highlight>
              </a:rPr>
              <a:t> in 1958.</a:t>
            </a:r>
            <a:endParaRPr sz="1900">
              <a:highlight>
                <a:schemeClr val="lt1"/>
              </a:highlight>
            </a:endParaRPr>
          </a:p>
        </p:txBody>
      </p:sp>
      <p:sp>
        <p:nvSpPr>
          <p:cNvPr id="196" name="Google Shape;196;p32"/>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pic>
        <p:nvPicPr>
          <p:cNvPr id="197" name="Google Shape;197;p32" title="Screenshot from 2025-10-15 12-10-40.png"/>
          <p:cNvPicPr preferRelativeResize="0"/>
          <p:nvPr/>
        </p:nvPicPr>
        <p:blipFill>
          <a:blip r:embed="rId3">
            <a:alphaModFix/>
          </a:blip>
          <a:stretch>
            <a:fillRect/>
          </a:stretch>
        </p:blipFill>
        <p:spPr>
          <a:xfrm>
            <a:off x="2449100" y="1959203"/>
            <a:ext cx="4245800" cy="27234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3"/>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Perceptron</a:t>
            </a:r>
            <a:endParaRPr/>
          </a:p>
        </p:txBody>
      </p:sp>
      <p:sp>
        <p:nvSpPr>
          <p:cNvPr id="203" name="Google Shape;203;p33"/>
          <p:cNvSpPr txBox="1"/>
          <p:nvPr>
            <p:ph idx="1" type="body"/>
          </p:nvPr>
        </p:nvSpPr>
        <p:spPr>
          <a:xfrm>
            <a:off x="311700" y="1018475"/>
            <a:ext cx="8520600" cy="38958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sz="1900">
                <a:highlight>
                  <a:schemeClr val="lt1"/>
                </a:highlight>
              </a:rPr>
              <a:t>Perceptron = Simplest form of artificial neuron</a:t>
            </a:r>
            <a:endParaRPr sz="1900">
              <a:highlight>
                <a:schemeClr val="lt1"/>
              </a:highlight>
            </a:endParaRPr>
          </a:p>
        </p:txBody>
      </p:sp>
      <p:sp>
        <p:nvSpPr>
          <p:cNvPr id="204" name="Google Shape;204;p33"/>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pic>
        <p:nvPicPr>
          <p:cNvPr id="205" name="Google Shape;205;p33" title="Screenshot from 2025-10-15 12-10-42.png"/>
          <p:cNvPicPr preferRelativeResize="0"/>
          <p:nvPr/>
        </p:nvPicPr>
        <p:blipFill>
          <a:blip r:embed="rId3">
            <a:alphaModFix/>
          </a:blip>
          <a:stretch>
            <a:fillRect/>
          </a:stretch>
        </p:blipFill>
        <p:spPr>
          <a:xfrm>
            <a:off x="640080" y="1828800"/>
            <a:ext cx="7315200" cy="251511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Perceptron &amp; Logic Gates</a:t>
            </a:r>
            <a:endParaRPr/>
          </a:p>
        </p:txBody>
      </p:sp>
      <p:sp>
        <p:nvSpPr>
          <p:cNvPr id="211" name="Google Shape;211;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Representing Logic Gates using Perceptron</a:t>
            </a:r>
            <a:endParaRPr/>
          </a:p>
        </p:txBody>
      </p:sp>
      <p:sp>
        <p:nvSpPr>
          <p:cNvPr id="217" name="Google Shape;217;p35"/>
          <p:cNvSpPr txBox="1"/>
          <p:nvPr>
            <p:ph idx="1" type="body"/>
          </p:nvPr>
        </p:nvSpPr>
        <p:spPr>
          <a:xfrm>
            <a:off x="311700" y="1018475"/>
            <a:ext cx="85206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Any linear decision can be represented by a Boolean equation.</a:t>
            </a:r>
            <a:endParaRPr/>
          </a:p>
          <a:p>
            <a:pPr indent="-355600" lvl="0" marL="457200" rtl="0" algn="l">
              <a:spcBef>
                <a:spcPts val="0"/>
              </a:spcBef>
              <a:spcAft>
                <a:spcPts val="0"/>
              </a:spcAft>
              <a:buSzPts val="2000"/>
              <a:buChar char="●"/>
            </a:pPr>
            <a:r>
              <a:rPr lang="en"/>
              <a:t>The quest is to find out how to represent the above using Perceptron.</a:t>
            </a:r>
            <a:endParaRPr/>
          </a:p>
          <a:p>
            <a:pPr indent="-355600" lvl="0" marL="457200" rtl="0" algn="l">
              <a:spcBef>
                <a:spcPts val="0"/>
              </a:spcBef>
              <a:spcAft>
                <a:spcPts val="0"/>
              </a:spcAft>
              <a:buSzPts val="2000"/>
              <a:buChar char="●"/>
            </a:pPr>
            <a:r>
              <a:rPr lang="en"/>
              <a:t>For this we test whether each of the logic gates can be represented by a Perceptron.</a:t>
            </a:r>
            <a:endParaRPr/>
          </a:p>
          <a:p>
            <a:pPr indent="0" lvl="0" marL="457200" rtl="0" algn="l">
              <a:spcBef>
                <a:spcPts val="1200"/>
              </a:spcBef>
              <a:spcAft>
                <a:spcPts val="1200"/>
              </a:spcAft>
              <a:buNone/>
            </a:pPr>
            <a:r>
              <a:t/>
            </a:r>
            <a:endParaRPr/>
          </a:p>
        </p:txBody>
      </p:sp>
      <p:sp>
        <p:nvSpPr>
          <p:cNvPr id="218" name="Google Shape;218;p35"/>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AND Logic Gate</a:t>
            </a:r>
            <a:endParaRPr/>
          </a:p>
        </p:txBody>
      </p:sp>
      <p:sp>
        <p:nvSpPr>
          <p:cNvPr id="224" name="Google Shape;224;p36"/>
          <p:cNvSpPr txBox="1"/>
          <p:nvPr>
            <p:ph idx="1" type="body"/>
          </p:nvPr>
        </p:nvSpPr>
        <p:spPr>
          <a:xfrm>
            <a:off x="311700" y="1018475"/>
            <a:ext cx="8520600" cy="389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Question:</a:t>
            </a:r>
            <a:endParaRPr/>
          </a:p>
          <a:p>
            <a:pPr indent="-355600" lvl="0" marL="914400" rtl="0" algn="l">
              <a:spcBef>
                <a:spcPts val="1200"/>
              </a:spcBef>
              <a:spcAft>
                <a:spcPts val="0"/>
              </a:spcAft>
              <a:buSzPts val="2000"/>
              <a:buChar char="●"/>
            </a:pPr>
            <a:r>
              <a:rPr lang="en"/>
              <a:t>How to represent AND gate using a perceptron?</a:t>
            </a:r>
            <a:endParaRPr/>
          </a:p>
          <a:p>
            <a:pPr indent="-355600" lvl="0" marL="914400" rtl="0" algn="l">
              <a:spcBef>
                <a:spcPts val="0"/>
              </a:spcBef>
              <a:spcAft>
                <a:spcPts val="0"/>
              </a:spcAft>
              <a:buSzPts val="2000"/>
              <a:buChar char="●"/>
            </a:pPr>
            <a:r>
              <a:rPr lang="en"/>
              <a:t>What are the parameters for the AND perceptron?</a:t>
            </a:r>
            <a:endParaRPr/>
          </a:p>
          <a:p>
            <a:pPr indent="-355600" lvl="0" marL="914400" rtl="0" algn="l">
              <a:spcBef>
                <a:spcPts val="0"/>
              </a:spcBef>
              <a:spcAft>
                <a:spcPts val="0"/>
              </a:spcAft>
              <a:buSzPts val="2000"/>
              <a:buChar char="●"/>
            </a:pPr>
            <a:r>
              <a:rPr lang="en"/>
              <a:t>Data is given below.</a:t>
            </a:r>
            <a:endParaRPr/>
          </a:p>
        </p:txBody>
      </p:sp>
      <p:sp>
        <p:nvSpPr>
          <p:cNvPr id="225" name="Google Shape;225;p36"/>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graphicFrame>
        <p:nvGraphicFramePr>
          <p:cNvPr id="226" name="Google Shape;226;p36"/>
          <p:cNvGraphicFramePr/>
          <p:nvPr/>
        </p:nvGraphicFramePr>
        <p:xfrm>
          <a:off x="3590200" y="2571750"/>
          <a:ext cx="3000000" cy="3000000"/>
        </p:xfrm>
        <a:graphic>
          <a:graphicData uri="http://schemas.openxmlformats.org/drawingml/2006/table">
            <a:tbl>
              <a:tblPr>
                <a:noFill/>
                <a:tableStyleId>{50FC60E1-CCDB-4A60-AB2C-E36D62583BF8}</a:tableStyleId>
              </a:tblPr>
              <a:tblGrid>
                <a:gridCol w="1001250"/>
                <a:gridCol w="1001250"/>
                <a:gridCol w="1001250"/>
              </a:tblGrid>
              <a:tr h="347825">
                <a:tc>
                  <a:txBody>
                    <a:bodyPr/>
                    <a:lstStyle/>
                    <a:p>
                      <a:pPr indent="0" lvl="0" marL="0" rtl="0" algn="ctr">
                        <a:spcBef>
                          <a:spcPts val="0"/>
                        </a:spcBef>
                        <a:spcAft>
                          <a:spcPts val="0"/>
                        </a:spcAft>
                        <a:buNone/>
                      </a:pPr>
                      <a:r>
                        <a:rPr b="1" lang="en" sz="1600"/>
                        <a:t>A</a:t>
                      </a:r>
                      <a:endParaRPr b="1" sz="1600"/>
                    </a:p>
                  </a:txBody>
                  <a:tcPr marT="91425" marB="91425" marR="91425" marL="91425">
                    <a:solidFill>
                      <a:srgbClr val="4A86E8"/>
                    </a:solidFill>
                  </a:tcPr>
                </a:tc>
                <a:tc>
                  <a:txBody>
                    <a:bodyPr/>
                    <a:lstStyle/>
                    <a:p>
                      <a:pPr indent="0" lvl="0" marL="0" rtl="0" algn="ctr">
                        <a:spcBef>
                          <a:spcPts val="0"/>
                        </a:spcBef>
                        <a:spcAft>
                          <a:spcPts val="0"/>
                        </a:spcAft>
                        <a:buNone/>
                      </a:pPr>
                      <a:r>
                        <a:rPr b="1" lang="en" sz="1600"/>
                        <a:t>B</a:t>
                      </a:r>
                      <a:endParaRPr b="1" sz="1600"/>
                    </a:p>
                  </a:txBody>
                  <a:tcPr marT="91425" marB="91425" marR="91425" marL="91425">
                    <a:solidFill>
                      <a:srgbClr val="4A86E8"/>
                    </a:solidFill>
                  </a:tcPr>
                </a:tc>
                <a:tc>
                  <a:txBody>
                    <a:bodyPr/>
                    <a:lstStyle/>
                    <a:p>
                      <a:pPr indent="0" lvl="0" marL="0" rtl="0" algn="ctr">
                        <a:spcBef>
                          <a:spcPts val="0"/>
                        </a:spcBef>
                        <a:spcAft>
                          <a:spcPts val="0"/>
                        </a:spcAft>
                        <a:buNone/>
                      </a:pPr>
                      <a:r>
                        <a:rPr b="1" lang="en" sz="1600"/>
                        <a:t>A and B</a:t>
                      </a:r>
                      <a:endParaRPr b="1" sz="1600"/>
                    </a:p>
                  </a:txBody>
                  <a:tcPr marT="91425" marB="91425" marR="91425" marL="91425">
                    <a:solidFill>
                      <a:srgbClr val="4A86E8"/>
                    </a:solidFill>
                  </a:tcPr>
                </a:tc>
              </a:tr>
              <a:tr h="323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r h="323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r h="323000">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r h="323000">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7"/>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Perceptron for AND gate</a:t>
            </a:r>
            <a:endParaRPr/>
          </a:p>
        </p:txBody>
      </p:sp>
      <p:sp>
        <p:nvSpPr>
          <p:cNvPr id="232" name="Google Shape;232;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33" name="Google Shape;233;p37" title="Screenshot from 2025-10-15 13-15-52.png"/>
          <p:cNvPicPr preferRelativeResize="0"/>
          <p:nvPr/>
        </p:nvPicPr>
        <p:blipFill>
          <a:blip r:embed="rId3">
            <a:alphaModFix/>
          </a:blip>
          <a:stretch>
            <a:fillRect/>
          </a:stretch>
        </p:blipFill>
        <p:spPr>
          <a:xfrm>
            <a:off x="640080" y="1097280"/>
            <a:ext cx="7315201" cy="368893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8"/>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Perceptron for AND gate</a:t>
            </a:r>
            <a:endParaRPr/>
          </a:p>
          <a:p>
            <a:pPr indent="0" lvl="0" marL="0" rtl="0" algn="l">
              <a:spcBef>
                <a:spcPts val="0"/>
              </a:spcBef>
              <a:spcAft>
                <a:spcPts val="0"/>
              </a:spcAft>
              <a:buNone/>
            </a:pPr>
            <a:r>
              <a:t/>
            </a:r>
            <a:endParaRPr/>
          </a:p>
        </p:txBody>
      </p:sp>
      <p:sp>
        <p:nvSpPr>
          <p:cNvPr id="239" name="Google Shape;239;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40" name="Google Shape;240;p38" title="Screenshot from 2025-10-15 13-15-56.png"/>
          <p:cNvPicPr preferRelativeResize="0"/>
          <p:nvPr/>
        </p:nvPicPr>
        <p:blipFill>
          <a:blip r:embed="rId3">
            <a:alphaModFix/>
          </a:blip>
          <a:stretch>
            <a:fillRect/>
          </a:stretch>
        </p:blipFill>
        <p:spPr>
          <a:xfrm>
            <a:off x="640080" y="1097280"/>
            <a:ext cx="7315199" cy="367553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OR Logic Gate</a:t>
            </a:r>
            <a:endParaRPr/>
          </a:p>
        </p:txBody>
      </p:sp>
      <p:sp>
        <p:nvSpPr>
          <p:cNvPr id="246" name="Google Shape;246;p39"/>
          <p:cNvSpPr txBox="1"/>
          <p:nvPr>
            <p:ph idx="1" type="body"/>
          </p:nvPr>
        </p:nvSpPr>
        <p:spPr>
          <a:xfrm>
            <a:off x="311700" y="1018475"/>
            <a:ext cx="8520600" cy="389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Question:</a:t>
            </a:r>
            <a:endParaRPr/>
          </a:p>
          <a:p>
            <a:pPr indent="-355600" lvl="0" marL="914400" rtl="0" algn="l">
              <a:spcBef>
                <a:spcPts val="1200"/>
              </a:spcBef>
              <a:spcAft>
                <a:spcPts val="0"/>
              </a:spcAft>
              <a:buSzPts val="2000"/>
              <a:buChar char="●"/>
            </a:pPr>
            <a:r>
              <a:rPr lang="en"/>
              <a:t>How to represent OR gate using a perceptron?</a:t>
            </a:r>
            <a:endParaRPr/>
          </a:p>
          <a:p>
            <a:pPr indent="-355600" lvl="0" marL="914400" rtl="0" algn="l">
              <a:spcBef>
                <a:spcPts val="0"/>
              </a:spcBef>
              <a:spcAft>
                <a:spcPts val="0"/>
              </a:spcAft>
              <a:buSzPts val="2000"/>
              <a:buChar char="●"/>
            </a:pPr>
            <a:r>
              <a:rPr lang="en"/>
              <a:t>What are the parameters for the OR perceptron?</a:t>
            </a:r>
            <a:endParaRPr/>
          </a:p>
          <a:p>
            <a:pPr indent="-355600" lvl="0" marL="914400" rtl="0" algn="l">
              <a:spcBef>
                <a:spcPts val="0"/>
              </a:spcBef>
              <a:spcAft>
                <a:spcPts val="0"/>
              </a:spcAft>
              <a:buSzPts val="2000"/>
              <a:buChar char="●"/>
            </a:pPr>
            <a:r>
              <a:rPr lang="en"/>
              <a:t>Data is given below.</a:t>
            </a:r>
            <a:endParaRPr/>
          </a:p>
        </p:txBody>
      </p:sp>
      <p:sp>
        <p:nvSpPr>
          <p:cNvPr id="247" name="Google Shape;247;p39"/>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graphicFrame>
        <p:nvGraphicFramePr>
          <p:cNvPr id="248" name="Google Shape;248;p39"/>
          <p:cNvGraphicFramePr/>
          <p:nvPr/>
        </p:nvGraphicFramePr>
        <p:xfrm>
          <a:off x="3590200" y="2571750"/>
          <a:ext cx="3000000" cy="3000000"/>
        </p:xfrm>
        <a:graphic>
          <a:graphicData uri="http://schemas.openxmlformats.org/drawingml/2006/table">
            <a:tbl>
              <a:tblPr>
                <a:noFill/>
                <a:tableStyleId>{50FC60E1-CCDB-4A60-AB2C-E36D62583BF8}</a:tableStyleId>
              </a:tblPr>
              <a:tblGrid>
                <a:gridCol w="1001250"/>
                <a:gridCol w="1001250"/>
                <a:gridCol w="1001250"/>
              </a:tblGrid>
              <a:tr h="347825">
                <a:tc>
                  <a:txBody>
                    <a:bodyPr/>
                    <a:lstStyle/>
                    <a:p>
                      <a:pPr indent="0" lvl="0" marL="0" rtl="0" algn="ctr">
                        <a:spcBef>
                          <a:spcPts val="0"/>
                        </a:spcBef>
                        <a:spcAft>
                          <a:spcPts val="0"/>
                        </a:spcAft>
                        <a:buNone/>
                      </a:pPr>
                      <a:r>
                        <a:rPr b="1" lang="en" sz="1600"/>
                        <a:t>A</a:t>
                      </a:r>
                      <a:endParaRPr b="1" sz="1600"/>
                    </a:p>
                  </a:txBody>
                  <a:tcPr marT="91425" marB="91425" marR="91425" marL="91425">
                    <a:solidFill>
                      <a:srgbClr val="4A86E8"/>
                    </a:solidFill>
                  </a:tcPr>
                </a:tc>
                <a:tc>
                  <a:txBody>
                    <a:bodyPr/>
                    <a:lstStyle/>
                    <a:p>
                      <a:pPr indent="0" lvl="0" marL="0" rtl="0" algn="ctr">
                        <a:spcBef>
                          <a:spcPts val="0"/>
                        </a:spcBef>
                        <a:spcAft>
                          <a:spcPts val="0"/>
                        </a:spcAft>
                        <a:buNone/>
                      </a:pPr>
                      <a:r>
                        <a:rPr b="1" lang="en" sz="1600"/>
                        <a:t>B</a:t>
                      </a:r>
                      <a:endParaRPr b="1" sz="1600"/>
                    </a:p>
                  </a:txBody>
                  <a:tcPr marT="91425" marB="91425" marR="91425" marL="91425">
                    <a:solidFill>
                      <a:srgbClr val="4A86E8"/>
                    </a:solidFill>
                  </a:tcPr>
                </a:tc>
                <a:tc>
                  <a:txBody>
                    <a:bodyPr/>
                    <a:lstStyle/>
                    <a:p>
                      <a:pPr indent="0" lvl="0" marL="0" rtl="0" algn="ctr">
                        <a:spcBef>
                          <a:spcPts val="0"/>
                        </a:spcBef>
                        <a:spcAft>
                          <a:spcPts val="0"/>
                        </a:spcAft>
                        <a:buNone/>
                      </a:pPr>
                      <a:r>
                        <a:rPr b="1" lang="en" sz="1600"/>
                        <a:t>A or B</a:t>
                      </a:r>
                      <a:endParaRPr b="1" sz="1600"/>
                    </a:p>
                  </a:txBody>
                  <a:tcPr marT="91425" marB="91425" marR="91425" marL="91425">
                    <a:solidFill>
                      <a:srgbClr val="4A86E8"/>
                    </a:solidFill>
                  </a:tcPr>
                </a:tc>
              </a:tr>
              <a:tr h="323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r>
              <a:tr h="323000">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r h="323000">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0</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r h="323000">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Perceptron for OR gate</a:t>
            </a:r>
            <a:endParaRPr/>
          </a:p>
          <a:p>
            <a:pPr indent="0" lvl="0" marL="0" rtl="0" algn="l">
              <a:spcBef>
                <a:spcPts val="0"/>
              </a:spcBef>
              <a:spcAft>
                <a:spcPts val="0"/>
              </a:spcAft>
              <a:buNone/>
            </a:pPr>
            <a:r>
              <a:t/>
            </a:r>
            <a:endParaRPr/>
          </a:p>
        </p:txBody>
      </p:sp>
      <p:sp>
        <p:nvSpPr>
          <p:cNvPr id="254" name="Google Shape;25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55" name="Google Shape;255;p40" title="Screenshot from 2025-10-15 13-15-59.png"/>
          <p:cNvPicPr preferRelativeResize="0"/>
          <p:nvPr/>
        </p:nvPicPr>
        <p:blipFill>
          <a:blip r:embed="rId3">
            <a:alphaModFix/>
          </a:blip>
          <a:stretch>
            <a:fillRect/>
          </a:stretch>
        </p:blipFill>
        <p:spPr>
          <a:xfrm>
            <a:off x="640080" y="1097280"/>
            <a:ext cx="7315200" cy="353882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1"/>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Perceptron for OR gate</a:t>
            </a:r>
            <a:endParaRPr/>
          </a:p>
          <a:p>
            <a:pPr indent="0" lvl="0" marL="0" rtl="0" algn="l">
              <a:spcBef>
                <a:spcPts val="0"/>
              </a:spcBef>
              <a:spcAft>
                <a:spcPts val="0"/>
              </a:spcAft>
              <a:buNone/>
            </a:pPr>
            <a:r>
              <a:t/>
            </a:r>
            <a:endParaRPr/>
          </a:p>
        </p:txBody>
      </p:sp>
      <p:sp>
        <p:nvSpPr>
          <p:cNvPr id="261" name="Google Shape;261;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2" name="Google Shape;262;p41" title="Screenshot from 2025-10-15 13-16-01.png"/>
          <p:cNvPicPr preferRelativeResize="0"/>
          <p:nvPr/>
        </p:nvPicPr>
        <p:blipFill>
          <a:blip r:embed="rId3">
            <a:alphaModFix/>
          </a:blip>
          <a:stretch>
            <a:fillRect/>
          </a:stretch>
        </p:blipFill>
        <p:spPr>
          <a:xfrm>
            <a:off x="640080" y="1097280"/>
            <a:ext cx="7315201" cy="343232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2"/>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Exercise</a:t>
            </a:r>
            <a:endParaRPr/>
          </a:p>
        </p:txBody>
      </p:sp>
      <p:sp>
        <p:nvSpPr>
          <p:cNvPr id="268" name="Google Shape;268;p42"/>
          <p:cNvSpPr txBox="1"/>
          <p:nvPr>
            <p:ph idx="1" type="body"/>
          </p:nvPr>
        </p:nvSpPr>
        <p:spPr>
          <a:xfrm>
            <a:off x="311700" y="1018475"/>
            <a:ext cx="85206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AutoNum type="arabicPeriod"/>
            </a:pPr>
            <a:r>
              <a:rPr lang="en"/>
              <a:t>Represent OR gate using Perceptron. Compute the parameters of the perceptron. </a:t>
            </a:r>
            <a:endParaRPr/>
          </a:p>
          <a:p>
            <a:pPr indent="-355600" lvl="0" marL="457200" rtl="0" algn="l">
              <a:spcBef>
                <a:spcPts val="0"/>
              </a:spcBef>
              <a:spcAft>
                <a:spcPts val="0"/>
              </a:spcAft>
              <a:buSzPts val="2000"/>
              <a:buAutoNum type="arabicPeriod"/>
            </a:pPr>
            <a:r>
              <a:rPr lang="en"/>
              <a:t>Represent NOR gate using Perceptron. Compute the parameters of the perceptron. </a:t>
            </a:r>
            <a:endParaRPr/>
          </a:p>
          <a:p>
            <a:pPr indent="-355600" lvl="0" marL="457200" rtl="0" algn="l">
              <a:spcBef>
                <a:spcPts val="0"/>
              </a:spcBef>
              <a:spcAft>
                <a:spcPts val="0"/>
              </a:spcAft>
              <a:buSzPts val="2000"/>
              <a:buAutoNum type="arabicPeriod"/>
            </a:pPr>
            <a:r>
              <a:rPr lang="en"/>
              <a:t>Represent NAND gate using Perceptron. Compute the parameters of the perceptron. </a:t>
            </a:r>
            <a:endParaRPr/>
          </a:p>
          <a:p>
            <a:pPr indent="0" lvl="0" marL="0" rtl="0" algn="l">
              <a:spcBef>
                <a:spcPts val="1200"/>
              </a:spcBef>
              <a:spcAft>
                <a:spcPts val="1200"/>
              </a:spcAft>
              <a:buNone/>
            </a:pPr>
            <a:r>
              <a:t/>
            </a:r>
            <a:endParaRPr/>
          </a:p>
        </p:txBody>
      </p:sp>
      <p:sp>
        <p:nvSpPr>
          <p:cNvPr id="269" name="Google Shape;269;p42"/>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Perceptron Learning Algorithm</a:t>
            </a:r>
            <a:endParaRPr/>
          </a:p>
        </p:txBody>
      </p:sp>
      <p:sp>
        <p:nvSpPr>
          <p:cNvPr id="275" name="Google Shape;275;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4"/>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Perceptron Learning Algorithm</a:t>
            </a:r>
            <a:endParaRPr/>
          </a:p>
        </p:txBody>
      </p:sp>
      <p:sp>
        <p:nvSpPr>
          <p:cNvPr id="281" name="Google Shape;281;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82" name="Google Shape;282;p44" title="Screenshot from 2025-10-15 13-16-04.png"/>
          <p:cNvPicPr preferRelativeResize="0"/>
          <p:nvPr/>
        </p:nvPicPr>
        <p:blipFill>
          <a:blip r:embed="rId3">
            <a:alphaModFix/>
          </a:blip>
          <a:stretch>
            <a:fillRect/>
          </a:stretch>
        </p:blipFill>
        <p:spPr>
          <a:xfrm>
            <a:off x="640080" y="1097280"/>
            <a:ext cx="7315201" cy="347328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5"/>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Perceptron Learning for NOT gate</a:t>
            </a:r>
            <a:endParaRPr/>
          </a:p>
        </p:txBody>
      </p:sp>
      <p:sp>
        <p:nvSpPr>
          <p:cNvPr id="288" name="Google Shape;288;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89" name="Google Shape;289;p45" title="Screenshot from 2025-10-15 13-16-07.png"/>
          <p:cNvPicPr preferRelativeResize="0"/>
          <p:nvPr/>
        </p:nvPicPr>
        <p:blipFill>
          <a:blip r:embed="rId3">
            <a:alphaModFix/>
          </a:blip>
          <a:stretch>
            <a:fillRect/>
          </a:stretch>
        </p:blipFill>
        <p:spPr>
          <a:xfrm>
            <a:off x="640080" y="1097280"/>
            <a:ext cx="7315200" cy="348966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6"/>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Perceptron Learning for NOT gate</a:t>
            </a:r>
            <a:endParaRPr/>
          </a:p>
        </p:txBody>
      </p:sp>
      <p:sp>
        <p:nvSpPr>
          <p:cNvPr id="295" name="Google Shape;295;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96" name="Google Shape;296;p46" title="Screenshot from 2025-10-15 13-16-08.png"/>
          <p:cNvPicPr preferRelativeResize="0"/>
          <p:nvPr/>
        </p:nvPicPr>
        <p:blipFill>
          <a:blip r:embed="rId3">
            <a:alphaModFix/>
          </a:blip>
          <a:stretch>
            <a:fillRect/>
          </a:stretch>
        </p:blipFill>
        <p:spPr>
          <a:xfrm>
            <a:off x="640080" y="1097280"/>
            <a:ext cx="7315200" cy="353882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7"/>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Perceptron Learning for NOT gate</a:t>
            </a:r>
            <a:endParaRPr/>
          </a:p>
        </p:txBody>
      </p:sp>
      <p:sp>
        <p:nvSpPr>
          <p:cNvPr id="302" name="Google Shape;302;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03" name="Google Shape;303;p47" title="Screenshot from 2025-10-15 13-16-11.png"/>
          <p:cNvPicPr preferRelativeResize="0"/>
          <p:nvPr/>
        </p:nvPicPr>
        <p:blipFill>
          <a:blip r:embed="rId3">
            <a:alphaModFix/>
          </a:blip>
          <a:stretch>
            <a:fillRect/>
          </a:stretch>
        </p:blipFill>
        <p:spPr>
          <a:xfrm>
            <a:off x="640080" y="1097280"/>
            <a:ext cx="7315199" cy="371526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8"/>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XOR Problem</a:t>
            </a:r>
            <a:endParaRPr/>
          </a:p>
        </p:txBody>
      </p:sp>
      <p:sp>
        <p:nvSpPr>
          <p:cNvPr id="309" name="Google Shape;309;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10" name="Google Shape;310;p48" title="Screenshot from 2025-10-15 12-11-09.png"/>
          <p:cNvPicPr preferRelativeResize="0"/>
          <p:nvPr/>
        </p:nvPicPr>
        <p:blipFill>
          <a:blip r:embed="rId3">
            <a:alphaModFix/>
          </a:blip>
          <a:stretch>
            <a:fillRect/>
          </a:stretch>
        </p:blipFill>
        <p:spPr>
          <a:xfrm>
            <a:off x="640080" y="1097280"/>
            <a:ext cx="7315200" cy="295028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9"/>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Single Perceptron Fails on XOR</a:t>
            </a:r>
            <a:endParaRPr/>
          </a:p>
        </p:txBody>
      </p:sp>
      <p:sp>
        <p:nvSpPr>
          <p:cNvPr id="316" name="Google Shape;316;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17" name="Google Shape;317;p49" title="Screenshot from 2025-10-15 12-11-11.png"/>
          <p:cNvPicPr preferRelativeResize="0"/>
          <p:nvPr/>
        </p:nvPicPr>
        <p:blipFill>
          <a:blip r:embed="rId3">
            <a:alphaModFix/>
          </a:blip>
          <a:stretch>
            <a:fillRect/>
          </a:stretch>
        </p:blipFill>
        <p:spPr>
          <a:xfrm>
            <a:off x="640080" y="1097280"/>
            <a:ext cx="6858001" cy="359555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0"/>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Perceptron Demo Python Code</a:t>
            </a:r>
            <a:endParaRPr/>
          </a:p>
        </p:txBody>
      </p:sp>
      <p:sp>
        <p:nvSpPr>
          <p:cNvPr id="323" name="Google Shape;323;p50"/>
          <p:cNvSpPr txBox="1"/>
          <p:nvPr>
            <p:ph idx="1" type="body"/>
          </p:nvPr>
        </p:nvSpPr>
        <p:spPr>
          <a:xfrm>
            <a:off x="311700" y="1018475"/>
            <a:ext cx="8520600" cy="3895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a:p>
            <a:pPr indent="0" lvl="0" marL="0" rtl="0" algn="l">
              <a:spcBef>
                <a:spcPts val="1200"/>
              </a:spcBef>
              <a:spcAft>
                <a:spcPts val="0"/>
              </a:spcAft>
              <a:buNone/>
            </a:pPr>
            <a:r>
              <a:rPr lang="en" u="sng">
                <a:solidFill>
                  <a:schemeClr val="hlink"/>
                </a:solidFill>
                <a:hlinkClick r:id="rId3"/>
              </a:rPr>
              <a:t>https://colab.research.google.com/drive/1DUVcOoUIWhl8GQKc6AWR1wi0LaMeNkgD?usp=sharing</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sz="1900"/>
              <a:t>Student pl note:</a:t>
            </a:r>
            <a:endParaRPr sz="1900"/>
          </a:p>
          <a:p>
            <a:pPr indent="0" lvl="0" marL="0" rtl="0" algn="l">
              <a:spcBef>
                <a:spcPts val="1200"/>
              </a:spcBef>
              <a:spcAft>
                <a:spcPts val="1200"/>
              </a:spcAft>
              <a:buNone/>
            </a:pPr>
            <a:r>
              <a:rPr lang="en" sz="1900"/>
              <a:t>The Python notebook is shared for anyone who has access to the link and the access is restricted to use BITS email id. So pl do not access from non-BITS email id and send requests for access. </a:t>
            </a:r>
            <a:endParaRPr sz="1900"/>
          </a:p>
        </p:txBody>
      </p:sp>
      <p:sp>
        <p:nvSpPr>
          <p:cNvPr id="324" name="Google Shape;324;p50"/>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Linearly Separable Data</a:t>
            </a:r>
            <a:endParaRPr/>
          </a:p>
        </p:txBody>
      </p:sp>
      <p:sp>
        <p:nvSpPr>
          <p:cNvPr id="330" name="Google Shape;330;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2"/>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Linearly Separable Data</a:t>
            </a:r>
            <a:endParaRPr/>
          </a:p>
        </p:txBody>
      </p:sp>
      <p:sp>
        <p:nvSpPr>
          <p:cNvPr id="336" name="Google Shape;336;p52"/>
          <p:cNvSpPr txBox="1"/>
          <p:nvPr>
            <p:ph idx="1" type="body"/>
          </p:nvPr>
        </p:nvSpPr>
        <p:spPr>
          <a:xfrm>
            <a:off x="311700" y="1018475"/>
            <a:ext cx="85206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b="1" lang="en"/>
              <a:t>Two sets  </a:t>
            </a:r>
            <a:r>
              <a:rPr b="1" lang="en"/>
              <a:t>data points are separable in a n-dimensional space if they can be separated by an (n-1) dimensional hyperplane.</a:t>
            </a:r>
            <a:endParaRPr b="1"/>
          </a:p>
          <a:p>
            <a:pPr indent="-355600" lvl="0" marL="457200" rtl="0" algn="l">
              <a:spcBef>
                <a:spcPts val="0"/>
              </a:spcBef>
              <a:spcAft>
                <a:spcPts val="0"/>
              </a:spcAft>
              <a:buSzPts val="2000"/>
              <a:buChar char="●"/>
            </a:pPr>
            <a:r>
              <a:rPr lang="en"/>
              <a:t>A straight line can be drawn to separate all the data examples belonging to class +1 from all the examples belonging to the class -1. Then the two-dimensional data are clearly linearly separable.</a:t>
            </a:r>
            <a:endParaRPr/>
          </a:p>
          <a:p>
            <a:pPr indent="-355600" lvl="0" marL="457200" rtl="0" algn="l">
              <a:spcBef>
                <a:spcPts val="0"/>
              </a:spcBef>
              <a:spcAft>
                <a:spcPts val="0"/>
              </a:spcAft>
              <a:buSzPts val="2000"/>
              <a:buChar char="●"/>
            </a:pPr>
            <a:r>
              <a:rPr lang="en"/>
              <a:t>An infinite number of straight lines can be drawn to separate the class +1 from the class -1.</a:t>
            </a:r>
            <a:endParaRPr/>
          </a:p>
        </p:txBody>
      </p:sp>
      <p:sp>
        <p:nvSpPr>
          <p:cNvPr id="337" name="Google Shape;337;p52"/>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3"/>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Linearly vs Non-Linearly Separable Data</a:t>
            </a:r>
            <a:endParaRPr/>
          </a:p>
        </p:txBody>
      </p:sp>
      <p:sp>
        <p:nvSpPr>
          <p:cNvPr id="343" name="Google Shape;343;p53"/>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pic>
        <p:nvPicPr>
          <p:cNvPr id="344" name="Google Shape;344;p53"/>
          <p:cNvPicPr preferRelativeResize="0"/>
          <p:nvPr/>
        </p:nvPicPr>
        <p:blipFill>
          <a:blip r:embed="rId3">
            <a:alphaModFix/>
          </a:blip>
          <a:stretch>
            <a:fillRect/>
          </a:stretch>
        </p:blipFill>
        <p:spPr>
          <a:xfrm>
            <a:off x="640080" y="1097280"/>
            <a:ext cx="7315201" cy="300972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4"/>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Perceptron for Linearly Separable Data</a:t>
            </a:r>
            <a:endParaRPr/>
          </a:p>
        </p:txBody>
      </p:sp>
      <p:sp>
        <p:nvSpPr>
          <p:cNvPr id="350" name="Google Shape;350;p54"/>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sp>
        <p:nvSpPr>
          <p:cNvPr id="351" name="Google Shape;351;p54"/>
          <p:cNvSpPr txBox="1"/>
          <p:nvPr>
            <p:ph idx="1" type="body"/>
          </p:nvPr>
        </p:nvSpPr>
        <p:spPr>
          <a:xfrm>
            <a:off x="311700" y="1018475"/>
            <a:ext cx="8520600" cy="3895800"/>
          </a:xfrm>
          <a:prstGeom prst="rect">
            <a:avLst/>
          </a:prstGeom>
        </p:spPr>
        <p:txBody>
          <a:bodyPr anchorCtr="0" anchor="t" bIns="91425" lIns="91425" spcFirstLastPara="1" rIns="91425" wrap="square" tIns="91425">
            <a:noAutofit/>
          </a:bodyPr>
          <a:lstStyle/>
          <a:p>
            <a:pPr indent="-342900" lvl="0" marL="457200" rtl="0" algn="l">
              <a:lnSpc>
                <a:spcPct val="95000"/>
              </a:lnSpc>
              <a:spcBef>
                <a:spcPts val="0"/>
              </a:spcBef>
              <a:spcAft>
                <a:spcPts val="0"/>
              </a:spcAft>
              <a:buSzPts val="1800"/>
              <a:buChar char="●"/>
            </a:pPr>
            <a:r>
              <a:rPr lang="en" sz="1800"/>
              <a:t>Data</a:t>
            </a:r>
            <a:endParaRPr sz="1800"/>
          </a:p>
          <a:p>
            <a:pPr indent="-342900" lvl="1" marL="914400" rtl="0" algn="l">
              <a:lnSpc>
                <a:spcPct val="95000"/>
              </a:lnSpc>
              <a:spcBef>
                <a:spcPts val="0"/>
              </a:spcBef>
              <a:spcAft>
                <a:spcPts val="0"/>
              </a:spcAft>
              <a:buSzPts val="1800"/>
              <a:buChar char="○"/>
            </a:pPr>
            <a:r>
              <a:rPr lang="en"/>
              <a:t>Truth tables or set of examples</a:t>
            </a:r>
            <a:r>
              <a:rPr lang="en" sz="1800"/>
              <a:t> </a:t>
            </a:r>
            <a:endParaRPr sz="1800"/>
          </a:p>
          <a:p>
            <a:pPr indent="-342900" lvl="0" marL="457200" rtl="0" algn="l">
              <a:lnSpc>
                <a:spcPct val="95000"/>
              </a:lnSpc>
              <a:spcBef>
                <a:spcPts val="0"/>
              </a:spcBef>
              <a:spcAft>
                <a:spcPts val="0"/>
              </a:spcAft>
              <a:buSzPts val="1800"/>
              <a:buChar char="●"/>
            </a:pPr>
            <a:r>
              <a:rPr lang="en" sz="1800"/>
              <a:t>Model</a:t>
            </a:r>
            <a:endParaRPr sz="1800"/>
          </a:p>
          <a:p>
            <a:pPr indent="-342900" lvl="1" marL="914400" rtl="0" algn="l">
              <a:lnSpc>
                <a:spcPct val="95000"/>
              </a:lnSpc>
              <a:spcBef>
                <a:spcPts val="0"/>
              </a:spcBef>
              <a:spcAft>
                <a:spcPts val="0"/>
              </a:spcAft>
              <a:buSzPts val="1800"/>
              <a:buChar char="○"/>
            </a:pPr>
            <a:r>
              <a:rPr lang="en"/>
              <a:t>Perceptron</a:t>
            </a:r>
            <a:endParaRPr/>
          </a:p>
          <a:p>
            <a:pPr indent="-342900" lvl="1" marL="914400" rtl="0" algn="l">
              <a:lnSpc>
                <a:spcPct val="95000"/>
              </a:lnSpc>
              <a:spcBef>
                <a:spcPts val="0"/>
              </a:spcBef>
              <a:spcAft>
                <a:spcPts val="0"/>
              </a:spcAft>
              <a:buSzPts val="1800"/>
              <a:buChar char="○"/>
            </a:pPr>
            <a:r>
              <a:rPr lang="en"/>
              <a:t>Inputs x are the features or columns</a:t>
            </a:r>
            <a:endParaRPr/>
          </a:p>
          <a:p>
            <a:pPr indent="-342900" lvl="1" marL="914400" rtl="0" algn="l">
              <a:lnSpc>
                <a:spcPct val="95000"/>
              </a:lnSpc>
              <a:spcBef>
                <a:spcPts val="0"/>
              </a:spcBef>
              <a:spcAft>
                <a:spcPts val="0"/>
              </a:spcAft>
              <a:buSzPts val="1800"/>
              <a:buChar char="○"/>
            </a:pPr>
            <a:r>
              <a:rPr lang="en"/>
              <a:t>Target output t is the required label</a:t>
            </a:r>
            <a:endParaRPr sz="1800"/>
          </a:p>
          <a:p>
            <a:pPr indent="-342900" lvl="0" marL="457200" rtl="0" algn="l">
              <a:lnSpc>
                <a:spcPct val="95000"/>
              </a:lnSpc>
              <a:spcBef>
                <a:spcPts val="0"/>
              </a:spcBef>
              <a:spcAft>
                <a:spcPts val="0"/>
              </a:spcAft>
              <a:buSzPts val="1800"/>
              <a:buChar char="●"/>
            </a:pPr>
            <a:r>
              <a:rPr lang="en" sz="1800"/>
              <a:t>Objective Function</a:t>
            </a:r>
            <a:endParaRPr sz="1800"/>
          </a:p>
          <a:p>
            <a:pPr indent="-342900" lvl="1" marL="914400" marR="0" rtl="0" algn="l">
              <a:lnSpc>
                <a:spcPct val="95000"/>
              </a:lnSpc>
              <a:spcBef>
                <a:spcPts val="0"/>
              </a:spcBef>
              <a:spcAft>
                <a:spcPts val="0"/>
              </a:spcAft>
              <a:buSzPts val="1800"/>
              <a:buChar char="○"/>
            </a:pPr>
            <a:r>
              <a:rPr lang="en"/>
              <a:t>Deviation of desired output or target t and the computed output ŷ</a:t>
            </a:r>
            <a:endParaRPr/>
          </a:p>
          <a:p>
            <a:pPr indent="-342900" lvl="0" marL="457200" rtl="0" algn="l">
              <a:lnSpc>
                <a:spcPct val="95000"/>
              </a:lnSpc>
              <a:spcBef>
                <a:spcPts val="0"/>
              </a:spcBef>
              <a:spcAft>
                <a:spcPts val="0"/>
              </a:spcAft>
              <a:buSzPts val="1800"/>
              <a:buChar char="●"/>
            </a:pPr>
            <a:r>
              <a:rPr lang="en" sz="1800"/>
              <a:t>Learning Algorithm</a:t>
            </a:r>
            <a:endParaRPr sz="1800"/>
          </a:p>
          <a:p>
            <a:pPr indent="-342900" lvl="1" marL="914400" rtl="0" algn="l">
              <a:lnSpc>
                <a:spcPct val="95000"/>
              </a:lnSpc>
              <a:spcBef>
                <a:spcPts val="0"/>
              </a:spcBef>
              <a:spcAft>
                <a:spcPts val="0"/>
              </a:spcAft>
              <a:buSzPts val="1800"/>
              <a:buChar char="○"/>
            </a:pPr>
            <a:r>
              <a:rPr lang="en"/>
              <a:t>Perceptron Learning algorithm</a:t>
            </a:r>
            <a:endParaRPr sz="1800"/>
          </a:p>
          <a:p>
            <a:pPr indent="-342900" lvl="0" marL="457200" rtl="0" algn="l">
              <a:lnSpc>
                <a:spcPct val="95000"/>
              </a:lnSpc>
              <a:spcBef>
                <a:spcPts val="0"/>
              </a:spcBef>
              <a:spcAft>
                <a:spcPts val="0"/>
              </a:spcAft>
              <a:buSzPts val="1800"/>
              <a:buChar char="●"/>
            </a:pPr>
            <a:r>
              <a:rPr lang="en" sz="1800"/>
              <a:t>Challenge</a:t>
            </a:r>
            <a:endParaRPr sz="1800"/>
          </a:p>
          <a:p>
            <a:pPr indent="-342900" lvl="1" marL="914400" rtl="0" algn="l">
              <a:lnSpc>
                <a:spcPct val="95000"/>
              </a:lnSpc>
              <a:spcBef>
                <a:spcPts val="0"/>
              </a:spcBef>
              <a:spcAft>
                <a:spcPts val="0"/>
              </a:spcAft>
              <a:buSzPts val="1800"/>
              <a:buChar char="○"/>
            </a:pPr>
            <a:r>
              <a:rPr lang="en"/>
              <a:t>How to learn these n + 1 parameters w</a:t>
            </a:r>
            <a:r>
              <a:rPr baseline="-25000" lang="en"/>
              <a:t>0</a:t>
            </a:r>
            <a:r>
              <a:rPr lang="en"/>
              <a:t> , w</a:t>
            </a:r>
            <a:r>
              <a:rPr baseline="-25000" lang="en"/>
              <a:t>1</a:t>
            </a:r>
            <a:r>
              <a:rPr lang="en"/>
              <a:t> . w</a:t>
            </a:r>
            <a:r>
              <a:rPr baseline="-25000" lang="en"/>
              <a:t>2</a:t>
            </a:r>
            <a:r>
              <a:rPr lang="en"/>
              <a:t> . . . w</a:t>
            </a:r>
            <a:r>
              <a:rPr baseline="-25000" lang="en"/>
              <a:t>n</a:t>
            </a:r>
            <a:r>
              <a:rPr lang="en"/>
              <a:t> ?</a:t>
            </a:r>
            <a:endParaRPr sz="1800"/>
          </a:p>
          <a:p>
            <a:pPr indent="-342900" lvl="0" marL="457200" rtl="0" algn="l">
              <a:lnSpc>
                <a:spcPct val="95000"/>
              </a:lnSpc>
              <a:spcBef>
                <a:spcPts val="0"/>
              </a:spcBef>
              <a:spcAft>
                <a:spcPts val="0"/>
              </a:spcAft>
              <a:buSzPts val="1800"/>
              <a:buChar char="●"/>
            </a:pPr>
            <a:r>
              <a:rPr lang="en" sz="1800"/>
              <a:t>Solution</a:t>
            </a:r>
            <a:endParaRPr sz="1800"/>
          </a:p>
          <a:p>
            <a:pPr indent="-342900" lvl="1" marL="914400" rtl="0" algn="l">
              <a:lnSpc>
                <a:spcPct val="95000"/>
              </a:lnSpc>
              <a:spcBef>
                <a:spcPts val="0"/>
              </a:spcBef>
              <a:spcAft>
                <a:spcPts val="0"/>
              </a:spcAft>
              <a:buSzPts val="1800"/>
              <a:buChar char="○"/>
            </a:pPr>
            <a:r>
              <a:rPr lang="en"/>
              <a:t>Use Perceptron learning algorithm.</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5"/>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Perceptron for Linearly Separable Data</a:t>
            </a:r>
            <a:endParaRPr/>
          </a:p>
        </p:txBody>
      </p:sp>
      <p:sp>
        <p:nvSpPr>
          <p:cNvPr id="357" name="Google Shape;357;p55"/>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pic>
        <p:nvPicPr>
          <p:cNvPr id="358" name="Google Shape;358;p55" title="Screenshot from 2025-10-15 13-16-22.png"/>
          <p:cNvPicPr preferRelativeResize="0"/>
          <p:nvPr/>
        </p:nvPicPr>
        <p:blipFill>
          <a:blip r:embed="rId3">
            <a:alphaModFix/>
          </a:blip>
          <a:stretch>
            <a:fillRect/>
          </a:stretch>
        </p:blipFill>
        <p:spPr>
          <a:xfrm>
            <a:off x="640080" y="1097280"/>
            <a:ext cx="7315199" cy="327346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Exercise</a:t>
            </a:r>
            <a:endParaRPr/>
          </a:p>
        </p:txBody>
      </p:sp>
      <p:sp>
        <p:nvSpPr>
          <p:cNvPr id="364" name="Google Shape;364;p56"/>
          <p:cNvSpPr txBox="1"/>
          <p:nvPr>
            <p:ph idx="1" type="body"/>
          </p:nvPr>
        </p:nvSpPr>
        <p:spPr>
          <a:xfrm>
            <a:off x="311700" y="1018475"/>
            <a:ext cx="85206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AutoNum type="arabicPeriod"/>
            </a:pPr>
            <a:r>
              <a:rPr lang="en"/>
              <a:t>Represent OR gate using Perceptron. Compute the parameters of the perceptron using perceptron learning algorithm.</a:t>
            </a:r>
            <a:endParaRPr/>
          </a:p>
          <a:p>
            <a:pPr indent="-355600" lvl="0" marL="457200" rtl="0" algn="l">
              <a:spcBef>
                <a:spcPts val="0"/>
              </a:spcBef>
              <a:spcAft>
                <a:spcPts val="0"/>
              </a:spcAft>
              <a:buSzPts val="2000"/>
              <a:buAutoNum type="arabicPeriod"/>
            </a:pPr>
            <a:r>
              <a:rPr lang="en"/>
              <a:t>Represent AND gate using Perceptron. Compute the parameters of the perceptron using perceptron learning algorithm. </a:t>
            </a:r>
            <a:endParaRPr/>
          </a:p>
          <a:p>
            <a:pPr indent="-355600" lvl="0" marL="457200" rtl="0" algn="l">
              <a:spcBef>
                <a:spcPts val="0"/>
              </a:spcBef>
              <a:spcAft>
                <a:spcPts val="0"/>
              </a:spcAft>
              <a:buSzPts val="2000"/>
              <a:buAutoNum type="arabicPeriod"/>
            </a:pPr>
            <a:r>
              <a:rPr lang="en"/>
              <a:t>Represent NOR gate using Perceptron. Compute the parameters of the perceptron using perceptron learning algorithm.</a:t>
            </a:r>
            <a:endParaRPr/>
          </a:p>
          <a:p>
            <a:pPr indent="-355600" lvl="0" marL="457200" rtl="0" algn="l">
              <a:spcBef>
                <a:spcPts val="0"/>
              </a:spcBef>
              <a:spcAft>
                <a:spcPts val="0"/>
              </a:spcAft>
              <a:buSzPts val="2000"/>
              <a:buAutoNum type="arabicPeriod"/>
            </a:pPr>
            <a:r>
              <a:rPr lang="en"/>
              <a:t>Represent NAND gate using Perceptron. Compute the parameters of the perceptron using perceptron learning algorithm.</a:t>
            </a:r>
            <a:endParaRPr/>
          </a:p>
          <a:p>
            <a:pPr indent="-355600" lvl="0" marL="457200" rtl="0" algn="l">
              <a:spcBef>
                <a:spcPts val="0"/>
              </a:spcBef>
              <a:spcAft>
                <a:spcPts val="0"/>
              </a:spcAft>
              <a:buSzPts val="2000"/>
              <a:buAutoNum type="arabicPeriod"/>
            </a:pPr>
            <a:r>
              <a:rPr lang="en"/>
              <a:t>Implement a perceptron for AND and OR gates</a:t>
            </a:r>
            <a:endParaRPr/>
          </a:p>
          <a:p>
            <a:pPr indent="-355600" lvl="0" marL="457200" rtl="0" algn="l">
              <a:spcBef>
                <a:spcPts val="0"/>
              </a:spcBef>
              <a:spcAft>
                <a:spcPts val="0"/>
              </a:spcAft>
              <a:buSzPts val="2000"/>
              <a:buAutoNum type="arabicPeriod"/>
            </a:pPr>
            <a:r>
              <a:rPr lang="en"/>
              <a:t>Sketch decision boundaries for Single perceptron</a:t>
            </a:r>
            <a:endParaRPr/>
          </a:p>
        </p:txBody>
      </p:sp>
      <p:sp>
        <p:nvSpPr>
          <p:cNvPr id="365" name="Google Shape;365;p56"/>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7"/>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Concepts</a:t>
            </a:r>
            <a:endParaRPr/>
          </a:p>
        </p:txBody>
      </p:sp>
      <p:sp>
        <p:nvSpPr>
          <p:cNvPr id="371" name="Google Shape;371;p57"/>
          <p:cNvSpPr txBox="1"/>
          <p:nvPr>
            <p:ph idx="1" type="body"/>
          </p:nvPr>
        </p:nvSpPr>
        <p:spPr>
          <a:xfrm>
            <a:off x="311700" y="1018475"/>
            <a:ext cx="85206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b="1" lang="en"/>
              <a:t>Neural Network</a:t>
            </a:r>
            <a:r>
              <a:rPr lang="en"/>
              <a:t>: Biological inspiration and mathematical models</a:t>
            </a:r>
            <a:endParaRPr/>
          </a:p>
          <a:p>
            <a:pPr indent="-355600" lvl="0" marL="457200" rtl="0" algn="l">
              <a:spcBef>
                <a:spcPts val="0"/>
              </a:spcBef>
              <a:spcAft>
                <a:spcPts val="0"/>
              </a:spcAft>
              <a:buSzPts val="2000"/>
              <a:buChar char="●"/>
            </a:pPr>
            <a:r>
              <a:rPr b="1" lang="en"/>
              <a:t>Perceptron</a:t>
            </a:r>
            <a:r>
              <a:rPr lang="en"/>
              <a:t>: Simplest neural unit, linear classification, learning algorithm</a:t>
            </a:r>
            <a:endParaRPr/>
          </a:p>
          <a:p>
            <a:pPr indent="-355600" lvl="0" marL="457200" rtl="0" algn="l">
              <a:spcBef>
                <a:spcPts val="0"/>
              </a:spcBef>
              <a:spcAft>
                <a:spcPts val="0"/>
              </a:spcAft>
              <a:buSzPts val="2000"/>
              <a:buChar char="●"/>
            </a:pPr>
            <a:r>
              <a:rPr b="1" lang="en"/>
              <a:t>XOR Problem</a:t>
            </a:r>
            <a:r>
              <a:rPr lang="en"/>
              <a:t>: Limitation of linear models, need for hidden layers</a:t>
            </a:r>
            <a:endParaRPr/>
          </a:p>
          <a:p>
            <a:pPr indent="-355600" lvl="0" marL="457200" rtl="0" algn="l">
              <a:spcBef>
                <a:spcPts val="0"/>
              </a:spcBef>
              <a:spcAft>
                <a:spcPts val="0"/>
              </a:spcAft>
              <a:buSzPts val="2000"/>
              <a:buChar char="●"/>
            </a:pPr>
            <a:r>
              <a:rPr b="1" lang="en"/>
              <a:t>Learning Paradigms</a:t>
            </a:r>
            <a:r>
              <a:rPr lang="en"/>
              <a:t>: Supervised, unsupervised, reinforcement learning</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372" name="Google Shape;372;p57"/>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8"/>
          <p:cNvSpPr txBox="1"/>
          <p:nvPr>
            <p:ph idx="12" type="sldNum"/>
          </p:nvPr>
        </p:nvSpPr>
        <p:spPr>
          <a:xfrm>
            <a:off x="8595300" y="4603599"/>
            <a:ext cx="548700" cy="3108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fld id="{00000000-1234-1234-1234-123412341234}" type="slidenum">
              <a:rPr lang="en"/>
              <a:t>‹#›</a:t>
            </a:fld>
            <a:endParaRPr/>
          </a:p>
        </p:txBody>
      </p:sp>
      <p:sp>
        <p:nvSpPr>
          <p:cNvPr id="378" name="Google Shape;378;p58"/>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379" name="Google Shape;379;p58"/>
          <p:cNvSpPr txBox="1"/>
          <p:nvPr>
            <p:ph idx="1" type="body"/>
          </p:nvPr>
        </p:nvSpPr>
        <p:spPr>
          <a:xfrm>
            <a:off x="311700" y="1018475"/>
            <a:ext cx="8520600" cy="38958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AutoNum type="arabicPeriod"/>
            </a:pPr>
            <a:r>
              <a:rPr lang="en"/>
              <a:t>Zhang et al. "Dive into Deep Learning" - Chapter 1 https://d2l.ai/</a:t>
            </a:r>
            <a:endParaRPr/>
          </a:p>
          <a:p>
            <a:pPr indent="-355600" lvl="0" marL="457200" rtl="0" algn="l">
              <a:spcBef>
                <a:spcPts val="0"/>
              </a:spcBef>
              <a:spcAft>
                <a:spcPts val="0"/>
              </a:spcAft>
              <a:buSzPts val="2000"/>
              <a:buAutoNum type="arabicPeriod"/>
            </a:pPr>
            <a:r>
              <a:rPr lang="en"/>
              <a:t>http://mlsp.cs.cmu.edu/people/rsingh/docs/Chapter1_Introduction.pdf</a:t>
            </a:r>
            <a:endParaRPr/>
          </a:p>
          <a:p>
            <a:pPr indent="-355600" lvl="0" marL="457200" rtl="0" algn="l">
              <a:spcBef>
                <a:spcPts val="0"/>
              </a:spcBef>
              <a:spcAft>
                <a:spcPts val="0"/>
              </a:spcAft>
              <a:buSzPts val="2000"/>
              <a:buAutoNum type="arabicPeriod"/>
            </a:pPr>
            <a:r>
              <a:rPr lang="en"/>
              <a:t>Goodfellow, Bengio, Courville - "Deep Learning" Chapters 1-6</a:t>
            </a:r>
            <a:endParaRPr/>
          </a:p>
          <a:p>
            <a:pPr indent="-355600" lvl="0" marL="457200" rtl="0" algn="l">
              <a:spcBef>
                <a:spcPts val="0"/>
              </a:spcBef>
              <a:spcAft>
                <a:spcPts val="0"/>
              </a:spcAft>
              <a:buSzPts val="2000"/>
              <a:buAutoNum type="arabicPeriod"/>
            </a:pPr>
            <a:r>
              <a:rPr lang="en"/>
              <a:t>Rosenblatt, F. (1958) - "The Perceptron: A Probabilistic Model”</a:t>
            </a:r>
            <a:endParaRPr/>
          </a:p>
          <a:p>
            <a:pPr indent="-355600" lvl="0" marL="457200" rtl="0" algn="l">
              <a:spcBef>
                <a:spcPts val="0"/>
              </a:spcBef>
              <a:spcAft>
                <a:spcPts val="0"/>
              </a:spcAft>
              <a:buSzPts val="2000"/>
              <a:buAutoNum type="arabicPeriod"/>
            </a:pPr>
            <a:r>
              <a:rPr lang="en"/>
              <a:t>Minsky &amp; Papert (1969) - "Perceptrons" (Historical perspective)</a:t>
            </a:r>
            <a:endParaRPr/>
          </a:p>
          <a:p>
            <a:pPr indent="0" lvl="0" marL="0" rtl="0" algn="l">
              <a:spcBef>
                <a:spcPts val="1200"/>
              </a:spcBef>
              <a:spcAft>
                <a:spcPts val="0"/>
              </a:spcAft>
              <a:buNone/>
            </a:pPr>
            <a:r>
              <a:t/>
            </a:r>
            <a:endParaRPr/>
          </a:p>
          <a:p>
            <a:pPr indent="0" lvl="0" marL="0" rtl="0" algn="ctr">
              <a:spcBef>
                <a:spcPts val="1200"/>
              </a:spcBef>
              <a:spcAft>
                <a:spcPts val="1200"/>
              </a:spcAft>
              <a:buNone/>
            </a:pPr>
            <a:r>
              <a:rPr lang="en" sz="2700"/>
              <a:t>Thank You :)</a:t>
            </a:r>
            <a:endParaRPr sz="27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269774655960a1f364fb373cfdb19387">
  <xsd:schema xmlns:xsd="http://www.w3.org/2001/XMLSchema" xmlns:xs="http://www.w3.org/2001/XMLSchema" xmlns:p="http://schemas.microsoft.com/office/2006/metadata/properties" xmlns:ns2="0a2451e9-b2b7-43a3-aada-52e3e0c35c47" targetNamespace="http://schemas.microsoft.com/office/2006/metadata/properties" ma:root="true" ma:fieldsID="0f3c1362c9e8f2540a0f1923835f41ad" ns2:_="">
    <xsd:import namespace="0a2451e9-b2b7-43a3-aada-52e3e0c35c47"/>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2ED3A6AD-CA87-4713-A440-F3F6968F16F4}"/>
</file>

<file path=customXml/itemProps2.xml><?xml version="1.0" encoding="utf-8"?>
<ds:datastoreItem xmlns:ds="http://schemas.openxmlformats.org/officeDocument/2006/customXml" ds:itemID="{D62CCAFB-0E9D-4E2A-B078-6A84FA59476F}"/>
</file>

<file path=customXml/itemProps3.xml><?xml version="1.0" encoding="utf-8"?>
<ds:datastoreItem xmlns:ds="http://schemas.openxmlformats.org/officeDocument/2006/customXml" ds:itemID="{7EF0B442-BFA5-4530-8D2F-D752D5554444}"/>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